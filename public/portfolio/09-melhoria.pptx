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0"/>
  </p:notesMasterIdLst>
  <p:sldIdLst>
    <p:sldId id="259" r:id="rId5"/>
    <p:sldId id="333" r:id="rId6"/>
    <p:sldId id="490" r:id="rId7"/>
    <p:sldId id="488" r:id="rId8"/>
    <p:sldId id="491" r:id="rId9"/>
    <p:sldId id="492" r:id="rId10"/>
    <p:sldId id="493" r:id="rId11"/>
    <p:sldId id="494" r:id="rId12"/>
    <p:sldId id="495" r:id="rId13"/>
    <p:sldId id="496" r:id="rId14"/>
    <p:sldId id="497" r:id="rId15"/>
    <p:sldId id="498" r:id="rId16"/>
    <p:sldId id="499" r:id="rId17"/>
    <p:sldId id="500" r:id="rId18"/>
    <p:sldId id="501" r:id="rId19"/>
  </p:sldIdLst>
  <p:sldSz cx="18288000" cy="10287000"/>
  <p:notesSz cx="6858000" cy="9144000"/>
  <p:embeddedFontLst>
    <p:embeddedFont>
      <p:font typeface="Gotham" panose="020B0604020202020204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k Esteves" initials="" lastIdx="4" clrIdx="0">
    <p:extLst>
      <p:ext uri="{19B8F6BF-5375-455C-9EA6-DF929625EA0E}">
        <p15:presenceInfo xmlns:p15="http://schemas.microsoft.com/office/powerpoint/2012/main" userId="S::erick.esteves@gestaodma.com.br::553c7fd5-ff97-48fc-a7e2-fca936a1ced7" providerId="AD"/>
      </p:ext>
    </p:extLst>
  </p:cmAuthor>
  <p:cmAuthor id="2" name="Carlos Eduardo da Silva Duarte" initials="CE" lastIdx="2" clrIdx="1">
    <p:extLst>
      <p:ext uri="{19B8F6BF-5375-455C-9EA6-DF929625EA0E}">
        <p15:presenceInfo xmlns:p15="http://schemas.microsoft.com/office/powerpoint/2012/main" userId="S::carlos.sduarte@fornecedores.goias.gov.br::5f8f9a9f-adf7-4680-a019-47e3a6423b3a" providerId="AD"/>
      </p:ext>
    </p:extLst>
  </p:cmAuthor>
  <p:cmAuthor id="3" name="Ana Luísa Neves" initials="AN" lastIdx="1" clrIdx="2">
    <p:extLst>
      <p:ext uri="{19B8F6BF-5375-455C-9EA6-DF929625EA0E}">
        <p15:presenceInfo xmlns:p15="http://schemas.microsoft.com/office/powerpoint/2012/main" userId="S::ana.nabreu_outlook.com#ext#@consorciogerenciadordma.onmicrosoft.com::4de49deb-56eb-4b2c-8912-3efcae8a50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51" autoAdjust="0"/>
    <p:restoredTop sz="94660"/>
  </p:normalViewPr>
  <p:slideViewPr>
    <p:cSldViewPr snapToGrid="0">
      <p:cViewPr varScale="1">
        <p:scale>
          <a:sx n="69" d="100"/>
          <a:sy n="69" d="100"/>
        </p:scale>
        <p:origin x="594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Nogueira Lopes" userId="b4794c58-b96d-4e49-8f1f-2dabfe8a9e6e" providerId="ADAL" clId="{816383E1-CDCA-4CC2-B79A-A3F515FC65D6}"/>
    <pc:docChg chg="undo custSel modSld">
      <pc:chgData name="Lucas Nogueira Lopes" userId="b4794c58-b96d-4e49-8f1f-2dabfe8a9e6e" providerId="ADAL" clId="{816383E1-CDCA-4CC2-B79A-A3F515FC65D6}" dt="2026-07-22T13:30:56.177" v="230" actId="1038"/>
      <pc:docMkLst>
        <pc:docMk/>
      </pc:docMkLst>
      <pc:sldChg chg="modSp mod">
        <pc:chgData name="Lucas Nogueira Lopes" userId="b4794c58-b96d-4e49-8f1f-2dabfe8a9e6e" providerId="ADAL" clId="{816383E1-CDCA-4CC2-B79A-A3F515FC65D6}" dt="2026-07-22T13:30:56.177" v="230" actId="1038"/>
        <pc:sldMkLst>
          <pc:docMk/>
          <pc:sldMk cId="0" sldId="259"/>
        </pc:sldMkLst>
        <pc:picChg chg="mod">
          <ac:chgData name="Lucas Nogueira Lopes" userId="b4794c58-b96d-4e49-8f1f-2dabfe8a9e6e" providerId="ADAL" clId="{816383E1-CDCA-4CC2-B79A-A3F515FC65D6}" dt="2026-07-22T13:30:56.177" v="230" actId="1038"/>
          <ac:picMkLst>
            <pc:docMk/>
            <pc:sldMk cId="0" sldId="259"/>
            <ac:picMk id="12" creationId="{00000000-0000-0000-0000-000000000000}"/>
          </ac:picMkLst>
        </pc:picChg>
      </pc:sldChg>
      <pc:sldChg chg="modSp mod">
        <pc:chgData name="Lucas Nogueira Lopes" userId="b4794c58-b96d-4e49-8f1f-2dabfe8a9e6e" providerId="ADAL" clId="{816383E1-CDCA-4CC2-B79A-A3F515FC65D6}" dt="2026-07-21T18:20:37.281" v="150" actId="18131"/>
        <pc:sldMkLst>
          <pc:docMk/>
          <pc:sldMk cId="1251952896" sldId="333"/>
        </pc:sldMkLst>
        <pc:picChg chg="mod">
          <ac:chgData name="Lucas Nogueira Lopes" userId="b4794c58-b96d-4e49-8f1f-2dabfe8a9e6e" providerId="ADAL" clId="{816383E1-CDCA-4CC2-B79A-A3F515FC65D6}" dt="2026-07-21T18:19:14.826" v="0" actId="14826"/>
          <ac:picMkLst>
            <pc:docMk/>
            <pc:sldMk cId="1251952896" sldId="333"/>
            <ac:picMk id="3" creationId="{CD352367-0340-8F1C-92B8-DC80A30A3FDF}"/>
          </ac:picMkLst>
        </pc:picChg>
        <pc:picChg chg="mod modCrop">
          <ac:chgData name="Lucas Nogueira Lopes" userId="b4794c58-b96d-4e49-8f1f-2dabfe8a9e6e" providerId="ADAL" clId="{816383E1-CDCA-4CC2-B79A-A3F515FC65D6}" dt="2026-07-21T18:20:37.281" v="150" actId="18131"/>
          <ac:picMkLst>
            <pc:docMk/>
            <pc:sldMk cId="1251952896" sldId="333"/>
            <ac:picMk id="24" creationId="{9A1EBC80-D3E3-87C8-FE95-0CCBCC2F075A}"/>
          </ac:picMkLst>
        </pc:picChg>
      </pc:sldChg>
    </pc:docChg>
  </pc:docChgLst>
  <pc:docChgLst>
    <pc:chgData name="Ana Luisa Neves Abreu" userId="d15c2549-03e1-4fc7-913e-94ad6c499cc9" providerId="ADAL" clId="{DE53FC85-EA55-41E4-A039-BB855B497A64}"/>
    <pc:docChg chg="undo custSel modSld">
      <pc:chgData name="Ana Luisa Neves Abreu" userId="d15c2549-03e1-4fc7-913e-94ad6c499cc9" providerId="ADAL" clId="{DE53FC85-EA55-41E4-A039-BB855B497A64}" dt="2026-07-14T13:03:10.086" v="53" actId="13926"/>
      <pc:docMkLst>
        <pc:docMk/>
      </pc:docMkLst>
      <pc:sldChg chg="modSp mod">
        <pc:chgData name="Ana Luisa Neves Abreu" userId="d15c2549-03e1-4fc7-913e-94ad6c499cc9" providerId="ADAL" clId="{DE53FC85-EA55-41E4-A039-BB855B497A64}" dt="2026-07-14T13:03:10.086" v="53" actId="13926"/>
        <pc:sldMkLst>
          <pc:docMk/>
          <pc:sldMk cId="0" sldId="259"/>
        </pc:sldMkLst>
        <pc:spChg chg="mod">
          <ac:chgData name="Ana Luisa Neves Abreu" userId="d15c2549-03e1-4fc7-913e-94ad6c499cc9" providerId="ADAL" clId="{DE53FC85-EA55-41E4-A039-BB855B497A64}" dt="2026-07-14T13:03:10.086" v="53" actId="13926"/>
          <ac:spMkLst>
            <pc:docMk/>
            <pc:sldMk cId="0" sldId="259"/>
            <ac:spMk id="18" creationId="{62C5BD79-031D-5AA1-C822-E7F5520F9DED}"/>
          </ac:spMkLst>
        </pc:spChg>
        <pc:spChg chg="mod">
          <ac:chgData name="Ana Luisa Neves Abreu" userId="d15c2549-03e1-4fc7-913e-94ad6c499cc9" providerId="ADAL" clId="{DE53FC85-EA55-41E4-A039-BB855B497A64}" dt="2026-07-13T14:33:43.899" v="38" actId="122"/>
          <ac:spMkLst>
            <pc:docMk/>
            <pc:sldMk cId="0" sldId="259"/>
            <ac:spMk id="22" creationId="{5F68BB77-F342-2EB6-8CEC-771718711674}"/>
          </ac:spMkLst>
        </pc:spChg>
        <pc:spChg chg="mod">
          <ac:chgData name="Ana Luisa Neves Abreu" userId="d15c2549-03e1-4fc7-913e-94ad6c499cc9" providerId="ADAL" clId="{DE53FC85-EA55-41E4-A039-BB855B497A64}" dt="2026-07-13T14:31:26.456" v="32" actId="122"/>
          <ac:spMkLst>
            <pc:docMk/>
            <pc:sldMk cId="0" sldId="259"/>
            <ac:spMk id="26" creationId="{55BC40B2-356D-7444-8068-24038217F3EE}"/>
          </ac:spMkLst>
        </pc:spChg>
        <pc:grpChg chg="mod">
          <ac:chgData name="Ana Luisa Neves Abreu" userId="d15c2549-03e1-4fc7-913e-94ad6c499cc9" providerId="ADAL" clId="{DE53FC85-EA55-41E4-A039-BB855B497A64}" dt="2026-07-14T13:03:06.790" v="52" actId="1076"/>
          <ac:grpSpMkLst>
            <pc:docMk/>
            <pc:sldMk cId="0" sldId="259"/>
            <ac:grpSpMk id="15" creationId="{51730B9C-7263-5DE9-3ADC-9D708BFD0366}"/>
          </ac:grpSpMkLst>
        </pc:grpChg>
      </pc:sldChg>
      <pc:sldChg chg="modSp mod">
        <pc:chgData name="Ana Luisa Neves Abreu" userId="d15c2549-03e1-4fc7-913e-94ad6c499cc9" providerId="ADAL" clId="{DE53FC85-EA55-41E4-A039-BB855B497A64}" dt="2026-07-13T13:39:11.316" v="1" actId="20577"/>
        <pc:sldMkLst>
          <pc:docMk/>
          <pc:sldMk cId="1251952896" sldId="333"/>
        </pc:sldMkLst>
        <pc:spChg chg="mod">
          <ac:chgData name="Ana Luisa Neves Abreu" userId="d15c2549-03e1-4fc7-913e-94ad6c499cc9" providerId="ADAL" clId="{DE53FC85-EA55-41E4-A039-BB855B497A64}" dt="2026-07-13T13:39:11.316" v="1" actId="20577"/>
          <ac:spMkLst>
            <pc:docMk/>
            <pc:sldMk cId="1251952896" sldId="333"/>
            <ac:spMk id="5" creationId="{379D30F7-A697-1958-C2FD-C3E3C9B7C077}"/>
          </ac:spMkLst>
        </pc:spChg>
      </pc:sldChg>
      <pc:sldChg chg="modSp mod">
        <pc:chgData name="Ana Luisa Neves Abreu" userId="d15c2549-03e1-4fc7-913e-94ad6c499cc9" providerId="ADAL" clId="{DE53FC85-EA55-41E4-A039-BB855B497A64}" dt="2026-07-13T13:40:01.417" v="3" actId="20577"/>
        <pc:sldMkLst>
          <pc:docMk/>
          <pc:sldMk cId="272103774" sldId="488"/>
        </pc:sldMkLst>
        <pc:spChg chg="mod">
          <ac:chgData name="Ana Luisa Neves Abreu" userId="d15c2549-03e1-4fc7-913e-94ad6c499cc9" providerId="ADAL" clId="{DE53FC85-EA55-41E4-A039-BB855B497A64}" dt="2026-07-13T13:40:01.417" v="3" actId="20577"/>
          <ac:spMkLst>
            <pc:docMk/>
            <pc:sldMk cId="272103774" sldId="488"/>
            <ac:spMk id="5" creationId="{C30DBB4E-5DFF-487B-15F4-1C75D59036A4}"/>
          </ac:spMkLst>
        </pc:spChg>
      </pc:sldChg>
      <pc:sldChg chg="modSp mod">
        <pc:chgData name="Ana Luisa Neves Abreu" userId="d15c2549-03e1-4fc7-913e-94ad6c499cc9" providerId="ADAL" clId="{DE53FC85-EA55-41E4-A039-BB855B497A64}" dt="2026-07-13T13:41:06.157" v="12" actId="113"/>
        <pc:sldMkLst>
          <pc:docMk/>
          <pc:sldMk cId="136785081" sldId="490"/>
        </pc:sldMkLst>
        <pc:spChg chg="mod">
          <ac:chgData name="Ana Luisa Neves Abreu" userId="d15c2549-03e1-4fc7-913e-94ad6c499cc9" providerId="ADAL" clId="{DE53FC85-EA55-41E4-A039-BB855B497A64}" dt="2026-07-13T13:41:06.157" v="12" actId="113"/>
          <ac:spMkLst>
            <pc:docMk/>
            <pc:sldMk cId="136785081" sldId="490"/>
            <ac:spMk id="5" creationId="{E5BA9376-C037-F54A-7795-DFE2837713B9}"/>
          </ac:spMkLst>
        </pc:spChg>
      </pc:sldChg>
      <pc:sldChg chg="modSp">
        <pc:chgData name="Ana Luisa Neves Abreu" userId="d15c2549-03e1-4fc7-913e-94ad6c499cc9" providerId="ADAL" clId="{DE53FC85-EA55-41E4-A039-BB855B497A64}" dt="2026-07-13T14:32:03.385" v="34"/>
        <pc:sldMkLst>
          <pc:docMk/>
          <pc:sldMk cId="2804525773" sldId="491"/>
        </pc:sldMkLst>
        <pc:spChg chg="mod">
          <ac:chgData name="Ana Luisa Neves Abreu" userId="d15c2549-03e1-4fc7-913e-94ad6c499cc9" providerId="ADAL" clId="{DE53FC85-EA55-41E4-A039-BB855B497A64}" dt="2026-07-13T14:32:03.385" v="34"/>
          <ac:spMkLst>
            <pc:docMk/>
            <pc:sldMk cId="2804525773" sldId="491"/>
            <ac:spMk id="5" creationId="{755DF70F-9BBA-099D-2F3C-93953A9A8B4B}"/>
          </ac:spMkLst>
        </pc:spChg>
      </pc:sldChg>
      <pc:sldChg chg="modSp mod">
        <pc:chgData name="Ana Luisa Neves Abreu" userId="d15c2549-03e1-4fc7-913e-94ad6c499cc9" providerId="ADAL" clId="{DE53FC85-EA55-41E4-A039-BB855B497A64}" dt="2026-07-13T13:43:44.677" v="14" actId="108"/>
        <pc:sldMkLst>
          <pc:docMk/>
          <pc:sldMk cId="1228839122" sldId="493"/>
        </pc:sldMkLst>
        <pc:spChg chg="mod">
          <ac:chgData name="Ana Luisa Neves Abreu" userId="d15c2549-03e1-4fc7-913e-94ad6c499cc9" providerId="ADAL" clId="{DE53FC85-EA55-41E4-A039-BB855B497A64}" dt="2026-07-13T13:43:44.677" v="14" actId="108"/>
          <ac:spMkLst>
            <pc:docMk/>
            <pc:sldMk cId="1228839122" sldId="493"/>
            <ac:spMk id="5" creationId="{E3529119-165E-A812-4A84-D196729240AC}"/>
          </ac:spMkLst>
        </pc:spChg>
      </pc:sldChg>
      <pc:sldChg chg="modSp mod">
        <pc:chgData name="Ana Luisa Neves Abreu" userId="d15c2549-03e1-4fc7-913e-94ad6c499cc9" providerId="ADAL" clId="{DE53FC85-EA55-41E4-A039-BB855B497A64}" dt="2026-07-13T13:44:17.558" v="17" actId="108"/>
        <pc:sldMkLst>
          <pc:docMk/>
          <pc:sldMk cId="2947179865" sldId="494"/>
        </pc:sldMkLst>
        <pc:spChg chg="mod">
          <ac:chgData name="Ana Luisa Neves Abreu" userId="d15c2549-03e1-4fc7-913e-94ad6c499cc9" providerId="ADAL" clId="{DE53FC85-EA55-41E4-A039-BB855B497A64}" dt="2026-07-13T13:44:17.558" v="17" actId="108"/>
          <ac:spMkLst>
            <pc:docMk/>
            <pc:sldMk cId="2947179865" sldId="494"/>
            <ac:spMk id="5" creationId="{2EF77881-08A1-B1E7-1871-9AD5B9EC5CED}"/>
          </ac:spMkLst>
        </pc:spChg>
      </pc:sldChg>
      <pc:sldChg chg="modSp mod">
        <pc:chgData name="Ana Luisa Neves Abreu" userId="d15c2549-03e1-4fc7-913e-94ad6c499cc9" providerId="ADAL" clId="{DE53FC85-EA55-41E4-A039-BB855B497A64}" dt="2026-07-13T13:46:10.382" v="18" actId="108"/>
        <pc:sldMkLst>
          <pc:docMk/>
          <pc:sldMk cId="845529181" sldId="495"/>
        </pc:sldMkLst>
        <pc:spChg chg="mod">
          <ac:chgData name="Ana Luisa Neves Abreu" userId="d15c2549-03e1-4fc7-913e-94ad6c499cc9" providerId="ADAL" clId="{DE53FC85-EA55-41E4-A039-BB855B497A64}" dt="2026-07-13T13:46:10.382" v="18" actId="108"/>
          <ac:spMkLst>
            <pc:docMk/>
            <pc:sldMk cId="845529181" sldId="495"/>
            <ac:spMk id="5" creationId="{09632C04-BB7E-FE54-1CB0-BF9A8B48AF9F}"/>
          </ac:spMkLst>
        </pc:spChg>
      </pc:sldChg>
      <pc:sldChg chg="modSp mod">
        <pc:chgData name="Ana Luisa Neves Abreu" userId="d15c2549-03e1-4fc7-913e-94ad6c499cc9" providerId="ADAL" clId="{DE53FC85-EA55-41E4-A039-BB855B497A64}" dt="2026-07-13T14:25:37.445" v="21" actId="20577"/>
        <pc:sldMkLst>
          <pc:docMk/>
          <pc:sldMk cId="979080022" sldId="497"/>
        </pc:sldMkLst>
        <pc:spChg chg="mod">
          <ac:chgData name="Ana Luisa Neves Abreu" userId="d15c2549-03e1-4fc7-913e-94ad6c499cc9" providerId="ADAL" clId="{DE53FC85-EA55-41E4-A039-BB855B497A64}" dt="2026-07-13T14:25:37.445" v="21" actId="20577"/>
          <ac:spMkLst>
            <pc:docMk/>
            <pc:sldMk cId="979080022" sldId="497"/>
            <ac:spMk id="5" creationId="{66CC410E-EFDD-2C5C-6AF0-A415AF13D57C}"/>
          </ac:spMkLst>
        </pc:spChg>
      </pc:sldChg>
      <pc:sldChg chg="modSp mod">
        <pc:chgData name="Ana Luisa Neves Abreu" userId="d15c2549-03e1-4fc7-913e-94ad6c499cc9" providerId="ADAL" clId="{DE53FC85-EA55-41E4-A039-BB855B497A64}" dt="2026-07-13T14:26:15.250" v="23" actId="20577"/>
        <pc:sldMkLst>
          <pc:docMk/>
          <pc:sldMk cId="396853472" sldId="498"/>
        </pc:sldMkLst>
        <pc:spChg chg="mod">
          <ac:chgData name="Ana Luisa Neves Abreu" userId="d15c2549-03e1-4fc7-913e-94ad6c499cc9" providerId="ADAL" clId="{DE53FC85-EA55-41E4-A039-BB855B497A64}" dt="2026-07-13T14:26:15.250" v="23" actId="20577"/>
          <ac:spMkLst>
            <pc:docMk/>
            <pc:sldMk cId="396853472" sldId="498"/>
            <ac:spMk id="5" creationId="{75FC8D5E-7257-581D-D973-71CCFB40E098}"/>
          </ac:spMkLst>
        </pc:spChg>
      </pc:sldChg>
      <pc:sldChg chg="modSp mod">
        <pc:chgData name="Ana Luisa Neves Abreu" userId="d15c2549-03e1-4fc7-913e-94ad6c499cc9" providerId="ADAL" clId="{DE53FC85-EA55-41E4-A039-BB855B497A64}" dt="2026-07-13T14:26:54.715" v="24" actId="20577"/>
        <pc:sldMkLst>
          <pc:docMk/>
          <pc:sldMk cId="3749396013" sldId="499"/>
        </pc:sldMkLst>
        <pc:spChg chg="mod">
          <ac:chgData name="Ana Luisa Neves Abreu" userId="d15c2549-03e1-4fc7-913e-94ad6c499cc9" providerId="ADAL" clId="{DE53FC85-EA55-41E4-A039-BB855B497A64}" dt="2026-07-13T14:26:54.715" v="24" actId="20577"/>
          <ac:spMkLst>
            <pc:docMk/>
            <pc:sldMk cId="3749396013" sldId="499"/>
            <ac:spMk id="5" creationId="{3AF62A90-55BC-825D-86BF-448944FD91CB}"/>
          </ac:spMkLst>
        </pc:spChg>
      </pc:sldChg>
      <pc:sldChg chg="modSp mod">
        <pc:chgData name="Ana Luisa Neves Abreu" userId="d15c2549-03e1-4fc7-913e-94ad6c499cc9" providerId="ADAL" clId="{DE53FC85-EA55-41E4-A039-BB855B497A64}" dt="2026-07-13T14:28:48.792" v="26" actId="20577"/>
        <pc:sldMkLst>
          <pc:docMk/>
          <pc:sldMk cId="2433254572" sldId="501"/>
        </pc:sldMkLst>
        <pc:spChg chg="mod">
          <ac:chgData name="Ana Luisa Neves Abreu" userId="d15c2549-03e1-4fc7-913e-94ad6c499cc9" providerId="ADAL" clId="{DE53FC85-EA55-41E4-A039-BB855B497A64}" dt="2026-07-13T14:28:48.792" v="26" actId="20577"/>
          <ac:spMkLst>
            <pc:docMk/>
            <pc:sldMk cId="2433254572" sldId="501"/>
            <ac:spMk id="5" creationId="{F9563F2C-398D-660B-4BE1-DF357569045E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30T10:13:46.188" idx="2">
    <p:pos x="3825" y="-1835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omments" Target="../comments/commen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165981" y="0"/>
            <a:ext cx="12072567" cy="10287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 rot="-5400000">
            <a:off x="5152519" y="10028"/>
            <a:ext cx="10288011" cy="10267949"/>
          </a:xfrm>
          <a:custGeom>
            <a:avLst/>
            <a:gdLst/>
            <a:ahLst/>
            <a:cxnLst/>
            <a:rect l="l" t="t" r="r" b="b"/>
            <a:pathLst>
              <a:path w="10288011" h="15430499">
                <a:moveTo>
                  <a:pt x="0" y="0"/>
                </a:moveTo>
                <a:lnTo>
                  <a:pt x="10288012" y="0"/>
                </a:lnTo>
                <a:lnTo>
                  <a:pt x="10288012" y="15430499"/>
                </a:lnTo>
                <a:lnTo>
                  <a:pt x="0" y="15430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-5" r="-5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5162550" y="13855"/>
            <a:ext cx="13125450" cy="10287000"/>
            <a:chOff x="0" y="0"/>
            <a:chExt cx="175006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500600" cy="13716000"/>
            </a:xfrm>
            <a:custGeom>
              <a:avLst/>
              <a:gdLst/>
              <a:ahLst/>
              <a:cxnLst/>
              <a:rect l="l" t="t" r="r" b="b"/>
              <a:pathLst>
                <a:path w="17500600" h="13716000">
                  <a:moveTo>
                    <a:pt x="0" y="0"/>
                  </a:moveTo>
                  <a:lnTo>
                    <a:pt x="17500600" y="0"/>
                  </a:lnTo>
                  <a:lnTo>
                    <a:pt x="17500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458507" y="3729055"/>
            <a:ext cx="8194113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>
                <a:solidFill>
                  <a:srgbClr val="00B050"/>
                </a:solidFill>
                <a:latin typeface="Gotham"/>
                <a:ea typeface="Gotham"/>
                <a:cs typeface="Gotham"/>
                <a:sym typeface="Gotham"/>
              </a:rPr>
              <a:t>OBRAS DE MELHORIA </a:t>
            </a:r>
          </a:p>
          <a:p>
            <a:pPr algn="l"/>
            <a:r>
              <a:rPr lang="en-US" sz="3600">
                <a:solidFill>
                  <a:srgbClr val="00B050"/>
                </a:solidFill>
                <a:latin typeface="Gotham"/>
                <a:ea typeface="Gotham"/>
                <a:cs typeface="Gotham"/>
                <a:sym typeface="Gotham"/>
              </a:rPr>
              <a:t>FUNCIONAL, SUPERVISÃO MELHORIA FUNCIONAL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13943" y="-190500"/>
            <a:ext cx="6060114" cy="460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0"/>
              </a:lnSpc>
            </a:pPr>
            <a:r>
              <a:rPr lang="en-US" sz="29850" dirty="0">
                <a:solidFill>
                  <a:srgbClr val="2DA54A"/>
                </a:solidFill>
                <a:latin typeface="Gotham Light"/>
                <a:ea typeface="Gotham Light"/>
                <a:cs typeface="Gotham Light"/>
                <a:sym typeface="Gotham Light"/>
              </a:rPr>
              <a:t>09.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9998" y="8987921"/>
            <a:ext cx="5736956" cy="1371894"/>
          </a:xfrm>
          <a:prstGeom prst="rect">
            <a:avLst/>
          </a:prstGeom>
        </p:spPr>
      </p:pic>
      <p:grpSp>
        <p:nvGrpSpPr>
          <p:cNvPr id="15" name="Group 9">
            <a:extLst>
              <a:ext uri="{FF2B5EF4-FFF2-40B4-BE49-F238E27FC236}">
                <a16:creationId xmlns:a16="http://schemas.microsoft.com/office/drawing/2014/main" id="{51730B9C-7263-5DE9-3ADC-9D708BFD0366}"/>
              </a:ext>
            </a:extLst>
          </p:cNvPr>
          <p:cNvGrpSpPr/>
          <p:nvPr/>
        </p:nvGrpSpPr>
        <p:grpSpPr>
          <a:xfrm>
            <a:off x="7354357" y="5779779"/>
            <a:ext cx="2812677" cy="3028750"/>
            <a:chOff x="0" y="0"/>
            <a:chExt cx="4019550" cy="4092576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A3E083C2-86B3-58B8-A95A-F37C1CF68340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FA34C787-53B3-CC01-C7AB-6F6F080D04F0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18" name="TextBox 26">
            <a:extLst>
              <a:ext uri="{FF2B5EF4-FFF2-40B4-BE49-F238E27FC236}">
                <a16:creationId xmlns:a16="http://schemas.microsoft.com/office/drawing/2014/main" id="{62C5BD79-031D-5AA1-C822-E7F5520F9DED}"/>
              </a:ext>
            </a:extLst>
          </p:cNvPr>
          <p:cNvSpPr txBox="1"/>
          <p:nvPr/>
        </p:nvSpPr>
        <p:spPr>
          <a:xfrm>
            <a:off x="7525356" y="6769243"/>
            <a:ext cx="2470678" cy="1100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 dirty="0">
              <a:highlight>
                <a:srgbClr val="FF0000"/>
              </a:highlight>
            </a:endParaRPr>
          </a:p>
          <a:p>
            <a:pPr algn="ctr">
              <a:lnSpc>
                <a:spcPts val="2160"/>
              </a:lnSpc>
            </a:pPr>
            <a:r>
              <a:rPr lang="en-US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23 RODOVIAS ESTADUAIS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dirty="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DD5DC145-C9CA-4252-3BBA-8E75DDBF21A9}"/>
              </a:ext>
            </a:extLst>
          </p:cNvPr>
          <p:cNvGrpSpPr/>
          <p:nvPr/>
        </p:nvGrpSpPr>
        <p:grpSpPr>
          <a:xfrm>
            <a:off x="10557991" y="5779778"/>
            <a:ext cx="2812677" cy="3028750"/>
            <a:chOff x="0" y="0"/>
            <a:chExt cx="4019550" cy="4092576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980622BF-23F3-5D21-22F2-099B3E6B40B2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6CA9A747-3622-DDF7-1646-8B8F7F2A34B1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2" name="TextBox 26">
            <a:extLst>
              <a:ext uri="{FF2B5EF4-FFF2-40B4-BE49-F238E27FC236}">
                <a16:creationId xmlns:a16="http://schemas.microsoft.com/office/drawing/2014/main" id="{5F68BB77-F342-2EB6-8CEC-771718711674}"/>
              </a:ext>
            </a:extLst>
          </p:cNvPr>
          <p:cNvSpPr txBox="1"/>
          <p:nvPr/>
        </p:nvSpPr>
        <p:spPr>
          <a:xfrm>
            <a:off x="10741272" y="6766557"/>
            <a:ext cx="2470678" cy="1100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 dirty="0"/>
          </a:p>
          <a:p>
            <a:pPr algn="ctr">
              <a:lnSpc>
                <a:spcPts val="2160"/>
              </a:lnSpc>
            </a:pPr>
            <a:r>
              <a:rPr lang="pt-BR" sz="18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1.814,04 KM RESTAURADOS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 dirty="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A10FD1D3-5874-1719-FBDD-6F830AC61737}"/>
              </a:ext>
            </a:extLst>
          </p:cNvPr>
          <p:cNvGrpSpPr/>
          <p:nvPr/>
        </p:nvGrpSpPr>
        <p:grpSpPr>
          <a:xfrm>
            <a:off x="13761625" y="5779778"/>
            <a:ext cx="2812677" cy="3028750"/>
            <a:chOff x="0" y="0"/>
            <a:chExt cx="4019550" cy="4092576"/>
          </a:xfrm>
        </p:grpSpPr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99F6676-1B46-30F0-43AC-A0FEE897615E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FD9C8B12-DA54-6A59-2123-08D84D144DDF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55BC40B2-356D-7444-8068-24038217F3EE}"/>
              </a:ext>
            </a:extLst>
          </p:cNvPr>
          <p:cNvSpPr txBox="1"/>
          <p:nvPr/>
        </p:nvSpPr>
        <p:spPr>
          <a:xfrm>
            <a:off x="13932624" y="6621505"/>
            <a:ext cx="2470678" cy="1664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 dirty="0"/>
          </a:p>
          <a:p>
            <a:pPr algn="ctr">
              <a:lnSpc>
                <a:spcPts val="2160"/>
              </a:lnSpc>
            </a:pPr>
            <a:r>
              <a:rPr lang="en-US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VALOR TOTAL CONTRATADO </a:t>
            </a:r>
          </a:p>
          <a:p>
            <a:pPr algn="ctr">
              <a:lnSpc>
                <a:spcPts val="2160"/>
              </a:lnSpc>
            </a:pPr>
            <a:r>
              <a:rPr lang="pt-BR" sz="18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R$ 355.452.596,18</a:t>
            </a:r>
            <a:br>
              <a:rPr lang="pt-BR" sz="18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</a:br>
            <a:endParaRPr lang="pt-BR" sz="1800" b="1" dirty="0">
              <a:solidFill>
                <a:schemeClr val="bg1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 dirty="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67757-B8BE-B3B0-8A75-1EAA59863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379D30F7-A697-1958-C2FD-C3E3C9B7C077}"/>
              </a:ext>
            </a:extLst>
          </p:cNvPr>
          <p:cNvSpPr txBox="1"/>
          <p:nvPr/>
        </p:nvSpPr>
        <p:spPr>
          <a:xfrm>
            <a:off x="3137581" y="2719826"/>
            <a:ext cx="8387669" cy="2460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da reabilitação funcional da Rodovia GO-230, Trecho: ENTR. GO-156 com GO-230/ Vila Propício.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124,39 km</a:t>
            </a:r>
            <a:endParaRPr lang="pt-BR" dirty="0">
              <a:solidFill>
                <a:srgbClr val="FF000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R$ 34.498.474,08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SITUAÇÃO</a:t>
            </a: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: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 Concluído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950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222BBF54-F075-160B-8EFC-3C887403715F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10C96AB-724B-FD48-EF5B-C54EBDDCA4F7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C15E5826-32CE-0F0C-32EF-31646044A7CF}"/>
              </a:ext>
            </a:extLst>
          </p:cNvPr>
          <p:cNvSpPr txBox="1"/>
          <p:nvPr/>
        </p:nvSpPr>
        <p:spPr>
          <a:xfrm>
            <a:off x="5209322" y="1262392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82/2023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30BCEDF2-B320-969F-CF24-B8ED97EB77B7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DA456F63-C991-4B01-D3F6-06F3107F52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sp>
        <p:nvSpPr>
          <p:cNvPr id="26" name="Freeform 16">
            <a:extLst>
              <a:ext uri="{FF2B5EF4-FFF2-40B4-BE49-F238E27FC236}">
                <a16:creationId xmlns:a16="http://schemas.microsoft.com/office/drawing/2014/main" id="{6686E5B6-40E9-A564-637D-C1EE18CBA803}"/>
              </a:ext>
            </a:extLst>
          </p:cNvPr>
          <p:cNvSpPr/>
          <p:nvPr/>
        </p:nvSpPr>
        <p:spPr>
          <a:xfrm>
            <a:off x="2656937" y="132164"/>
            <a:ext cx="11157195" cy="907256"/>
          </a:xfrm>
          <a:custGeom>
            <a:avLst/>
            <a:gdLst/>
            <a:ahLst/>
            <a:cxnLst/>
            <a:rect l="l" t="t" r="r" b="b"/>
            <a:pathLst>
              <a:path w="4908550" h="1209675">
                <a:moveTo>
                  <a:pt x="4305681" y="1209675"/>
                </a:moveTo>
                <a:cubicBezTo>
                  <a:pt x="0" y="1209675"/>
                  <a:pt x="0" y="1209675"/>
                  <a:pt x="0" y="1209675"/>
                </a:cubicBezTo>
                <a:cubicBezTo>
                  <a:pt x="0" y="0"/>
                  <a:pt x="0" y="0"/>
                  <a:pt x="0" y="0"/>
                </a:cubicBezTo>
                <a:cubicBezTo>
                  <a:pt x="4305681" y="0"/>
                  <a:pt x="4305681" y="0"/>
                  <a:pt x="4305681" y="0"/>
                </a:cubicBezTo>
                <a:cubicBezTo>
                  <a:pt x="4638802" y="0"/>
                  <a:pt x="4908550" y="269875"/>
                  <a:pt x="4908550" y="603250"/>
                </a:cubicBezTo>
                <a:cubicBezTo>
                  <a:pt x="4908550" y="1209675"/>
                  <a:pt x="4908550" y="1209675"/>
                  <a:pt x="4908550" y="1209675"/>
                </a:cubicBezTo>
                <a:lnTo>
                  <a:pt x="4305681" y="1209675"/>
                </a:lnTo>
                <a:close/>
              </a:path>
            </a:pathLst>
          </a:custGeom>
          <a:solidFill>
            <a:srgbClr val="0E9E3C"/>
          </a:solidFill>
        </p:spPr>
        <p:txBody>
          <a:bodyPr/>
          <a:lstStyle/>
          <a:p>
            <a:endParaRPr lang="pt-BR"/>
          </a:p>
        </p:txBody>
      </p:sp>
      <p:grpSp>
        <p:nvGrpSpPr>
          <p:cNvPr id="27" name="Group 17">
            <a:extLst>
              <a:ext uri="{FF2B5EF4-FFF2-40B4-BE49-F238E27FC236}">
                <a16:creationId xmlns:a16="http://schemas.microsoft.com/office/drawing/2014/main" id="{E99E236E-54AC-DF96-942D-EC666B2FE867}"/>
              </a:ext>
            </a:extLst>
          </p:cNvPr>
          <p:cNvGrpSpPr/>
          <p:nvPr/>
        </p:nvGrpSpPr>
        <p:grpSpPr>
          <a:xfrm>
            <a:off x="2157458" y="132164"/>
            <a:ext cx="904875" cy="907257"/>
            <a:chOff x="0" y="0"/>
            <a:chExt cx="1206500" cy="1209676"/>
          </a:xfrm>
        </p:grpSpPr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4AAED392-2674-2B72-3A28-61008E74C6CC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9" name="TextBox 19">
            <a:extLst>
              <a:ext uri="{FF2B5EF4-FFF2-40B4-BE49-F238E27FC236}">
                <a16:creationId xmlns:a16="http://schemas.microsoft.com/office/drawing/2014/main" id="{D58E6E20-FE59-E36B-9100-3EDB63568A26}"/>
              </a:ext>
            </a:extLst>
          </p:cNvPr>
          <p:cNvSpPr txBox="1"/>
          <p:nvPr/>
        </p:nvSpPr>
        <p:spPr>
          <a:xfrm>
            <a:off x="3369936" y="267991"/>
            <a:ext cx="12378007" cy="475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CONCLUÍDOS  - MELHORIA FUNCIONAL</a:t>
            </a:r>
            <a:endParaRPr lang="en-US" sz="2200" b="1">
              <a:solidFill>
                <a:srgbClr val="FFFFFF"/>
              </a:solidFill>
              <a:latin typeface="Gotham"/>
              <a:sym typeface="Gotham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D352367-0340-8F1C-92B8-DC80A30A3F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45" r="23145"/>
          <a:stretch/>
        </p:blipFill>
        <p:spPr>
          <a:xfrm>
            <a:off x="13553537" y="1222441"/>
            <a:ext cx="3536259" cy="313879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9A1EBC80-D3E3-87C8-FE95-0CCBCC2F07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6" r="23586"/>
          <a:stretch>
            <a:fillRect/>
          </a:stretch>
        </p:blipFill>
        <p:spPr>
          <a:xfrm>
            <a:off x="13553537" y="4620825"/>
            <a:ext cx="3536259" cy="34630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8CB2495-026C-D7D6-5B5E-FE1A3578002E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BC6F17-3B79-A8EA-E1E7-BA3839DA0C2F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MELHORIA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FUNCIONAL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C31DB3C-3127-BC56-539B-43384A5F62F8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251952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E68F9-020D-F545-0AB5-533E9D54B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E5BA9376-C037-F54A-7795-DFE2837713B9}"/>
              </a:ext>
            </a:extLst>
          </p:cNvPr>
          <p:cNvSpPr txBox="1"/>
          <p:nvPr/>
        </p:nvSpPr>
        <p:spPr>
          <a:xfrm>
            <a:off x="3137581" y="2719826"/>
            <a:ext cx="8387669" cy="2460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reabilitação funcional na GO-118, lote 03, extensão: 179,96 km, lote 04, extensão: 55,43 km e lote 07.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341,48 km</a:t>
            </a:r>
            <a:endParaRPr lang="pt-BR" dirty="0">
              <a:solidFill>
                <a:srgbClr val="FF000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R$ 96.698.082,80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 Concluído </a:t>
            </a:r>
          </a:p>
          <a:p>
            <a:pPr algn="just">
              <a:lnSpc>
                <a:spcPct val="150000"/>
              </a:lnSpc>
            </a:pPr>
            <a:endParaRPr lang="pt-BR" sz="1950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71DDE760-981A-11F4-F73F-150EBC2C82EE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E2CF0CA-1B1E-41EF-DA8D-3DFC58CF9679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B3770DEF-4007-D6A5-0BBB-DFC5E5079EC0}"/>
              </a:ext>
            </a:extLst>
          </p:cNvPr>
          <p:cNvSpPr txBox="1"/>
          <p:nvPr/>
        </p:nvSpPr>
        <p:spPr>
          <a:xfrm>
            <a:off x="5209322" y="1262392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114/2023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F948DD50-FA59-F02A-1597-C3334BB8D066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12348BBE-BD0A-9255-BBB4-BBE599DD8E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BB3165A-FBBC-14BD-9010-0C46C19AC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667" y="847119"/>
            <a:ext cx="3120124" cy="365160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6FE21F9-2270-AAD0-25D4-04F6F4ADD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5746" y="4700404"/>
            <a:ext cx="3120124" cy="383972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4909AE1-24D4-254C-10D1-CFF6A6BF3DDF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AF161CC-4B90-3B13-BDE3-B0172B4228C0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MELHORIA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FUNCIONAL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DF4E90E-09C6-0B52-6D07-7F54BF719D70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36785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D1FC1-33BA-520F-B98C-3E84E6A92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C30DBB4E-5DFF-487B-15F4-1C75D59036A4}"/>
              </a:ext>
            </a:extLst>
          </p:cNvPr>
          <p:cNvSpPr txBox="1"/>
          <p:nvPr/>
        </p:nvSpPr>
        <p:spPr>
          <a:xfrm>
            <a:off x="3137581" y="2719826"/>
            <a:ext cx="8387669" cy="2460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Serviços de reabilitação funcional da rodovia GO-225/GO-431, trecho: BR-414 (fim do perímetro urbano de Corumbá de Goiás) a ENTR. GO-338 (Pirenópolis).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46,50 km</a:t>
            </a:r>
            <a:endParaRPr lang="pt-BR" dirty="0">
              <a:solidFill>
                <a:srgbClr val="FF000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R$ 13.052.015,66	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 Concluído 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99CEE880-70CC-C513-A907-8816F1571F9B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6CA3683-12ED-6C93-134E-A557456A800D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E1138380-DFA5-BBBE-E729-5ACC4101D0AF}"/>
              </a:ext>
            </a:extLst>
          </p:cNvPr>
          <p:cNvSpPr txBox="1"/>
          <p:nvPr/>
        </p:nvSpPr>
        <p:spPr>
          <a:xfrm>
            <a:off x="5209322" y="1262392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88/2024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7F243D0D-58B2-D3DB-3AFA-9B117BBC1A90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A5E3E1AC-5166-8188-E471-EDF514E36A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FE8C3A70-90E2-A48B-D20C-DD72D3802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9991" y="947692"/>
            <a:ext cx="3564807" cy="367893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0D113F9-41A8-44B0-66B9-616EEEE9D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7011" y="4764355"/>
            <a:ext cx="3697787" cy="367893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7B478E6-AD48-0AA2-3938-F3F0F7B59C3F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F293832-ED9D-1B18-BF26-A7900C32F23A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MELHORIA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FUNCIONAL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0D4B7C7-74F0-6B8A-FBF8-19528E029A93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72103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AAFD7-1BB6-49D8-D05B-1758A8328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755DF70F-9BBA-099D-2F3C-93953A9A8B4B}"/>
              </a:ext>
            </a:extLst>
          </p:cNvPr>
          <p:cNvSpPr txBox="1"/>
          <p:nvPr/>
        </p:nvSpPr>
        <p:spPr>
          <a:xfrm>
            <a:off x="3137581" y="2719826"/>
            <a:ext cx="8387669" cy="2460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da reabilitação funcional da rodovia GO-040, ENTR. GO-219 (B)/ 319 (B)/ ENTR. GO-320 (B).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125,53 km</a:t>
            </a:r>
            <a:endParaRPr lang="pt-BR" dirty="0">
              <a:solidFill>
                <a:srgbClr val="FF000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R$ 27.999.847,87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 Concluído </a:t>
            </a:r>
          </a:p>
          <a:p>
            <a:pPr algn="just">
              <a:lnSpc>
                <a:spcPct val="150000"/>
              </a:lnSpc>
            </a:pPr>
            <a:endParaRPr lang="pt-BR" sz="1950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F00F413-DCA3-E6FC-4113-EC6E8C1236A5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A763F208-480F-45B2-4023-BD067BDBDBD5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03BBE37B-F4F8-6D03-5A61-BE68AE9C98B4}"/>
              </a:ext>
            </a:extLst>
          </p:cNvPr>
          <p:cNvSpPr txBox="1"/>
          <p:nvPr/>
        </p:nvSpPr>
        <p:spPr>
          <a:xfrm>
            <a:off x="5227851" y="1262392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34/2024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074390A7-4BEE-A39A-FC1C-C1C89695CBA9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950F4979-0E1F-1B5C-91E0-DFC290ECC2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0DADDB4-505B-9D97-E265-ED889769C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2465" y="1085441"/>
            <a:ext cx="3515908" cy="361496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AFF5716B-1C3F-A7E0-B306-D8B855099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2465" y="4968611"/>
            <a:ext cx="3420374" cy="34823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A7C26A4-6A6E-AD25-56BC-CAFC16A5E70F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3D9D79A-0D6A-E358-25D9-39C23ECBA2A9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MELHORIA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FUNCIONAL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D62DC21-6910-47C2-C5DC-B3EF06C41208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804525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E94DC-C0D4-2B8C-4709-CCEA7D866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41A865CB-66A0-976C-CB32-4EF2BD4190E3}"/>
              </a:ext>
            </a:extLst>
          </p:cNvPr>
          <p:cNvSpPr txBox="1"/>
          <p:nvPr/>
        </p:nvSpPr>
        <p:spPr>
          <a:xfrm>
            <a:off x="3137581" y="2719826"/>
            <a:ext cx="8387669" cy="3291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das obras de melhorias funcionais da rodovia GO-516, trecho: SRE 516 E GO 0010 ENTR. BR-364 – ENTR. GO-220 (Perolândia) e da rodovia GO-220, trecho: ENTR. BR-158 (B) – início do perímetro urbano de Perolândia.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53,69 km</a:t>
            </a:r>
            <a:endParaRPr lang="pt-BR" dirty="0">
              <a:solidFill>
                <a:srgbClr val="FF000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R$ 52.460.836,60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 Concluído </a:t>
            </a:r>
          </a:p>
          <a:p>
            <a:pPr algn="just">
              <a:lnSpc>
                <a:spcPct val="150000"/>
              </a:lnSpc>
            </a:pPr>
            <a:endParaRPr lang="pt-BR" sz="1950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A45059E9-40B7-8DC1-C97B-3F74E7024413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A80FEA8C-1080-985F-40A5-CA9FEDF8EC03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FD4F5550-A769-54AF-8162-4A7ECE13FB91}"/>
              </a:ext>
            </a:extLst>
          </p:cNvPr>
          <p:cNvSpPr txBox="1"/>
          <p:nvPr/>
        </p:nvSpPr>
        <p:spPr>
          <a:xfrm>
            <a:off x="5209322" y="1262392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06/2024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0DD14625-5EA0-F25C-D206-464120B7FDC0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61D0E068-B6C0-19A4-5018-379C6F4D4C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B7B25D17-31DB-E156-51AA-DB520A0F6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7278" y="1222441"/>
            <a:ext cx="3166281" cy="323587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2C060B8-1C08-EC95-C506-383E265E6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78" y="4712179"/>
            <a:ext cx="3166281" cy="362210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E5546E1-4B91-2AC3-E8D3-16DE14A06670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F434678-9351-FE46-3025-6C7B670BC635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MELHORIA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FUNCIONAL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7BBFA0D-6832-2DA0-8B86-0E07B35883E1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387888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72B36-8C64-0593-511B-58DA637C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E3529119-165E-A812-4A84-D196729240AC}"/>
              </a:ext>
            </a:extLst>
          </p:cNvPr>
          <p:cNvSpPr txBox="1"/>
          <p:nvPr/>
        </p:nvSpPr>
        <p:spPr>
          <a:xfrm>
            <a:off x="3137581" y="2719826"/>
            <a:ext cx="8387669" cy="2855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das obras de reabilitação funcional da rodovia GO-206, trecho: ENTR. GO-502/ENTR. GO-040 (Inaciolândia), extensão 39,67 km, e da rodovia GO-194/GO-421/GO-221, trecho: início perímetro urbano (Baliza) a ENTR. GO-421, extensão 106,41 km.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146,08 km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R$ 54.906.049,06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SITUAÇÃO</a:t>
            </a: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Concluído 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4C52EC1C-3F2F-2B4C-7B62-63C5056A3AB3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3D0754C2-8F9C-4905-1CA8-277C8E5B1502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FE4E54B2-A8A4-C9BF-2B85-71843F7ACBE2}"/>
              </a:ext>
            </a:extLst>
          </p:cNvPr>
          <p:cNvSpPr txBox="1"/>
          <p:nvPr/>
        </p:nvSpPr>
        <p:spPr>
          <a:xfrm>
            <a:off x="5209322" y="1262392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67/2024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A3F90C28-2D59-6F7F-CDD5-C12CEB5A3CAF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AEE32931-9BF7-1648-1F40-50309FCFB0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17A27D3-2799-DB47-831D-747011E05D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81" r="17581"/>
          <a:stretch/>
        </p:blipFill>
        <p:spPr>
          <a:xfrm>
            <a:off x="13368015" y="591573"/>
            <a:ext cx="3564807" cy="3994838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E9C86CB6-FA35-8627-A9D5-D723C927E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8014" y="4942128"/>
            <a:ext cx="3564807" cy="399483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C3B13520-6346-05B8-FC3C-0203FFA8D53F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0EDC21A-2B75-0B90-23D0-CB417B22BE71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MELHORIA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FUNCIONAL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9D06C53-BCC2-F122-2812-8CD9496A78CF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228839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85E1-8620-D5A4-5D71-EB1135067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EF77881-08A1-B1E7-1871-9AD5B9EC5CED}"/>
              </a:ext>
            </a:extLst>
          </p:cNvPr>
          <p:cNvSpPr txBox="1"/>
          <p:nvPr/>
        </p:nvSpPr>
        <p:spPr>
          <a:xfrm>
            <a:off x="3137581" y="2719826"/>
            <a:ext cx="8387669" cy="243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Reabilitação funcional do trecho da GO-154, ENTR. GO-427(A)(</a:t>
            </a:r>
            <a:r>
              <a:rPr lang="pt-BR" dirty="0" err="1">
                <a:latin typeface="Gotham" panose="020B0604020202020204"/>
              </a:rPr>
              <a:t>Itaguaru</a:t>
            </a:r>
            <a:r>
              <a:rPr lang="pt-BR" dirty="0">
                <a:latin typeface="Gotham" panose="020B0604020202020204"/>
              </a:rPr>
              <a:t>) / fim perímetro urbano(</a:t>
            </a:r>
            <a:r>
              <a:rPr lang="pt-BR" dirty="0" err="1">
                <a:latin typeface="Gotham" panose="020B0604020202020204"/>
              </a:rPr>
              <a:t>Itaguaru</a:t>
            </a:r>
            <a:r>
              <a:rPr lang="pt-BR" dirty="0">
                <a:latin typeface="Gotham" panose="020B0604020202020204"/>
              </a:rPr>
              <a:t>) até início perímetro urbano / ENTR. GO-334(Carmo do Rio Verde).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50,78 km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</a:t>
            </a: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R$ 24.106.331,95</a:t>
            </a:r>
            <a:endParaRPr lang="pt-BR" dirty="0">
              <a:latin typeface="Gotham"/>
              <a:ea typeface="Gotham"/>
              <a:cs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SITUAÇÃO: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Concluído 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52E3A9F9-6CD9-F5B3-CDFE-D3734C780079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DAA9AF4-7FA1-BB76-34C8-700DB974AD9B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3CE0CBC4-1A6C-0ED5-A975-B1CA1872B86C}"/>
              </a:ext>
            </a:extLst>
          </p:cNvPr>
          <p:cNvSpPr txBox="1"/>
          <p:nvPr/>
        </p:nvSpPr>
        <p:spPr>
          <a:xfrm>
            <a:off x="5209322" y="1262392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77/2024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8AA67D8A-D720-0218-E083-B5962D4FEDAB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5F06D9A-F4FC-0C98-7ADA-98E9CEA835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453613EA-C398-84C9-5CDD-5E242DFBB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" r="4991"/>
          <a:stretch/>
        </p:blipFill>
        <p:spPr>
          <a:xfrm>
            <a:off x="13295302" y="4889140"/>
            <a:ext cx="3564807" cy="3994838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A1C753A-D64E-65FC-DC22-7B2101644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4375" y="416605"/>
            <a:ext cx="3452088" cy="4344773"/>
          </a:xfrm>
          <a:prstGeom prst="round2DiagRect">
            <a:avLst>
              <a:gd name="adj1" fmla="val 17384"/>
              <a:gd name="adj2" fmla="val 0"/>
            </a:avLst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3FACB5E-CB8D-7C1B-BA06-8CB179BEFE45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0C56684-D0F6-8D20-1465-DE8554E1121D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MELHORIA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FUNCIONAL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8169F1C-B26A-0A75-0ACD-C6EEC9B2AAF4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947179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EDD98-A052-8B58-5263-6C8F7991C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09632C04-BB7E-FE54-1CB0-BF9A8B48AF9F}"/>
              </a:ext>
            </a:extLst>
          </p:cNvPr>
          <p:cNvSpPr txBox="1"/>
          <p:nvPr/>
        </p:nvSpPr>
        <p:spPr>
          <a:xfrm>
            <a:off x="3137581" y="2719826"/>
            <a:ext cx="8387669" cy="2024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da obra de reabilitação funcional da rodovia GO-164, trecho: fim perímetro urbano (Goiás)/ ENTR. GO-429.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65,47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R$ 16.488.260,75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SITUAÇÃO: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 Concluído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506B3860-CD0E-49E9-03B5-EFBC0D9AEC81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59B99F1-1994-8D0B-4439-E34FB316830C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C749878A-7D18-BD85-96AD-A1161E7500C5}"/>
              </a:ext>
            </a:extLst>
          </p:cNvPr>
          <p:cNvSpPr txBox="1"/>
          <p:nvPr/>
        </p:nvSpPr>
        <p:spPr>
          <a:xfrm>
            <a:off x="5209322" y="1262392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58/2024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9ED0A482-6410-39F9-B9F5-EA133B1DA94A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2831869A-54E7-4689-AE51-3882B93E52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B04A031-F627-EB80-EF7A-BC8F2B631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9496" y="781465"/>
            <a:ext cx="3564807" cy="387672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7B0F4656-61A0-39B6-8B7A-308BA22AB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9495" y="4913630"/>
            <a:ext cx="3564808" cy="387672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C17F34F6-969E-19C5-3191-C49765CA3C86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B34BC6-4619-AE4E-5209-DFA769557948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MELHORIA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FUNCIONAL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502DF1B-C868-D0C0-B72F-7E1826594134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845529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97735-3162-41CE-5E59-5B615D267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525D83A5-ACCC-C36D-551A-3FB6FB0C972D}"/>
              </a:ext>
            </a:extLst>
          </p:cNvPr>
          <p:cNvSpPr txBox="1"/>
          <p:nvPr/>
        </p:nvSpPr>
        <p:spPr>
          <a:xfrm>
            <a:off x="3137581" y="2719826"/>
            <a:ext cx="8387669" cy="2024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de reabilitação funcional da GO-194, trecho: ENTR. BR-364 a ENTR. GO-220 (Portelândia).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68,85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R$ 27.276.275,99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Concluído 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06255A91-5607-391D-80C9-3501F5CAE255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C34C5D1-D390-6901-A0A3-39298232BFC0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31C6945F-C3DA-3007-BCC4-305840945946}"/>
              </a:ext>
            </a:extLst>
          </p:cNvPr>
          <p:cNvSpPr txBox="1"/>
          <p:nvPr/>
        </p:nvSpPr>
        <p:spPr>
          <a:xfrm>
            <a:off x="5159649" y="1262392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142/2024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4AF4874E-20C3-B511-3B43-5DB3F5372188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9C4C3277-D579-9754-D003-A2CB078601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B582D339-6223-03B9-E94B-495240DC4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8551" y="674209"/>
            <a:ext cx="3743736" cy="4091233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4085F68-B92C-C693-C634-89FB2D32D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8550" y="5123334"/>
            <a:ext cx="3743736" cy="3994837"/>
          </a:xfrm>
          <a:prstGeom prst="round2DiagRect">
            <a:avLst>
              <a:gd name="adj1" fmla="val 17384"/>
              <a:gd name="adj2" fmla="val 0"/>
            </a:avLst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95FB61B-76A4-6C06-DDD6-CCC9EB51AD6F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64149E4-437C-F69E-47C1-B48551BE3FE4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MELHORIA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FUNCIONAL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06EFF35-2D27-A8F6-7D5A-A5C0B6821255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4177783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45ECE-2C42-1782-6380-B28B99F19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66CC410E-EFDD-2C5C-6AF0-A415AF13D57C}"/>
              </a:ext>
            </a:extLst>
          </p:cNvPr>
          <p:cNvSpPr txBox="1"/>
          <p:nvPr/>
        </p:nvSpPr>
        <p:spPr>
          <a:xfrm>
            <a:off x="3137581" y="2719826"/>
            <a:ext cx="8387669" cy="243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Supervisão do programa de melhoria funcional das rodovias no estado de Goiás, na GO-040, ENTR. GO-219 (B)/ 319 (B)/ ENTR. GO-320 (B).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125,53 km</a:t>
            </a:r>
            <a:endParaRPr lang="pt-BR" dirty="0">
              <a:solidFill>
                <a:srgbClr val="FF000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R$ 1.269.303,60	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SITUAÇÃO: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 Concluído 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1B6CF590-7B64-61F0-19EE-BB9D424D7C57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7B422B0-830E-6BC8-0DD5-EA23CE4B3986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E51E201A-8959-1A7C-08BF-C5695FDA1A4F}"/>
              </a:ext>
            </a:extLst>
          </p:cNvPr>
          <p:cNvSpPr txBox="1"/>
          <p:nvPr/>
        </p:nvSpPr>
        <p:spPr>
          <a:xfrm>
            <a:off x="5209322" y="1353275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70/2023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B73564CA-7A00-FD45-CD37-544BD197D1D8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EB4E9C51-5894-74C6-742C-2E43973239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2740590-D41A-33C2-B04B-E853222A8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7120" y="1353275"/>
            <a:ext cx="3334689" cy="371904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EDDB95D1-8071-4030-0CFB-7D857466E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7119" y="5396453"/>
            <a:ext cx="3334689" cy="362006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2F1974D-12BA-C220-5433-3F07B4723A1C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AA84838-0B65-A4E4-E06C-DADD4AB9E46F}"/>
              </a:ext>
            </a:extLst>
          </p:cNvPr>
          <p:cNvSpPr txBox="1"/>
          <p:nvPr/>
        </p:nvSpPr>
        <p:spPr>
          <a:xfrm>
            <a:off x="-189350" y="8141378"/>
            <a:ext cx="2391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SUPERVISÃO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MELHORIA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FUNCIONAL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FCF17F4-78BF-33EA-E5F1-2876CE89F6A9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8F7CC9D5-60BD-6FF0-8EDB-FEDE95E1166E}"/>
              </a:ext>
            </a:extLst>
          </p:cNvPr>
          <p:cNvSpPr/>
          <p:nvPr/>
        </p:nvSpPr>
        <p:spPr>
          <a:xfrm>
            <a:off x="2656937" y="132164"/>
            <a:ext cx="11157195" cy="907256"/>
          </a:xfrm>
          <a:custGeom>
            <a:avLst/>
            <a:gdLst/>
            <a:ahLst/>
            <a:cxnLst/>
            <a:rect l="l" t="t" r="r" b="b"/>
            <a:pathLst>
              <a:path w="4908550" h="1209675">
                <a:moveTo>
                  <a:pt x="4305681" y="1209675"/>
                </a:moveTo>
                <a:cubicBezTo>
                  <a:pt x="0" y="1209675"/>
                  <a:pt x="0" y="1209675"/>
                  <a:pt x="0" y="1209675"/>
                </a:cubicBezTo>
                <a:cubicBezTo>
                  <a:pt x="0" y="0"/>
                  <a:pt x="0" y="0"/>
                  <a:pt x="0" y="0"/>
                </a:cubicBezTo>
                <a:cubicBezTo>
                  <a:pt x="4305681" y="0"/>
                  <a:pt x="4305681" y="0"/>
                  <a:pt x="4305681" y="0"/>
                </a:cubicBezTo>
                <a:cubicBezTo>
                  <a:pt x="4638802" y="0"/>
                  <a:pt x="4908550" y="269875"/>
                  <a:pt x="4908550" y="603250"/>
                </a:cubicBezTo>
                <a:cubicBezTo>
                  <a:pt x="4908550" y="1209675"/>
                  <a:pt x="4908550" y="1209675"/>
                  <a:pt x="4908550" y="1209675"/>
                </a:cubicBezTo>
                <a:lnTo>
                  <a:pt x="4305681" y="1209675"/>
                </a:lnTo>
                <a:close/>
              </a:path>
            </a:pathLst>
          </a:custGeom>
          <a:solidFill>
            <a:srgbClr val="0E9E3C"/>
          </a:solidFill>
        </p:spPr>
        <p:txBody>
          <a:bodyPr/>
          <a:lstStyle/>
          <a:p>
            <a:endParaRPr lang="pt-BR"/>
          </a:p>
        </p:txBody>
      </p:sp>
      <p:grpSp>
        <p:nvGrpSpPr>
          <p:cNvPr id="26" name="Group 17">
            <a:extLst>
              <a:ext uri="{FF2B5EF4-FFF2-40B4-BE49-F238E27FC236}">
                <a16:creationId xmlns:a16="http://schemas.microsoft.com/office/drawing/2014/main" id="{C8303ADF-C1BD-A87C-6C53-5C12A9EDF891}"/>
              </a:ext>
            </a:extLst>
          </p:cNvPr>
          <p:cNvGrpSpPr/>
          <p:nvPr/>
        </p:nvGrpSpPr>
        <p:grpSpPr>
          <a:xfrm>
            <a:off x="2157458" y="132164"/>
            <a:ext cx="904875" cy="907257"/>
            <a:chOff x="0" y="0"/>
            <a:chExt cx="1206500" cy="1209676"/>
          </a:xfrm>
        </p:grpSpPr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35584AC6-052D-C326-299C-51CA3395EF72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8" name="TextBox 19">
            <a:extLst>
              <a:ext uri="{FF2B5EF4-FFF2-40B4-BE49-F238E27FC236}">
                <a16:creationId xmlns:a16="http://schemas.microsoft.com/office/drawing/2014/main" id="{7B11D6BB-9A9D-B5C3-487D-27D891DA8A52}"/>
              </a:ext>
            </a:extLst>
          </p:cNvPr>
          <p:cNvSpPr txBox="1"/>
          <p:nvPr/>
        </p:nvSpPr>
        <p:spPr>
          <a:xfrm>
            <a:off x="3369936" y="267991"/>
            <a:ext cx="12378007" cy="475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CONCLUÍDOS  -  SUPERVISÃO MELHORIA FUNCIONAL</a:t>
            </a:r>
            <a:endParaRPr lang="en-US" sz="2200" b="1" dirty="0">
              <a:solidFill>
                <a:srgbClr val="FFFFFF"/>
              </a:solidFill>
              <a:latin typeface="Gotham"/>
              <a:sym typeface="Gotham"/>
            </a:endParaRPr>
          </a:p>
        </p:txBody>
      </p:sp>
    </p:spTree>
    <p:extLst>
      <p:ext uri="{BB962C8B-B14F-4D97-AF65-F5344CB8AC3E}">
        <p14:creationId xmlns:p14="http://schemas.microsoft.com/office/powerpoint/2010/main" val="979080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1FBA2-545D-7BE3-D04F-F0CE1C855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75FC8D5E-7257-581D-D973-71CCFB40E098}"/>
              </a:ext>
            </a:extLst>
          </p:cNvPr>
          <p:cNvSpPr txBox="1"/>
          <p:nvPr/>
        </p:nvSpPr>
        <p:spPr>
          <a:xfrm>
            <a:off x="3137581" y="2719826"/>
            <a:ext cx="8387669" cy="243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supervisão da execução das melhorias funcionais das rodovias, trecho: GO-230 - ENTR. GO-156 com GO-230/ Vila Propício.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124,39 km</a:t>
            </a:r>
            <a:endParaRPr lang="pt-BR" dirty="0">
              <a:solidFill>
                <a:srgbClr val="FF000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R$ 1.282.432,95	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 Concluído 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6CC73441-02FB-10C8-4D7A-740E7A1CDCE4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8883DE9-1A82-2831-ABAC-26E1CEFE055B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A27E5A7E-C29C-A4D6-1A1F-6655F1A3CDC2}"/>
              </a:ext>
            </a:extLst>
          </p:cNvPr>
          <p:cNvSpPr txBox="1"/>
          <p:nvPr/>
        </p:nvSpPr>
        <p:spPr>
          <a:xfrm>
            <a:off x="5209322" y="1353275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71/2023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598F3200-CF9A-2A2B-7B16-747A98CA95F0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9EAD6983-4362-765B-503A-17BD4C22C9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8C430232-0B89-4BE5-20DD-0EAD82531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0106" y="1353275"/>
            <a:ext cx="3240625" cy="359348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541909F-578E-5345-882B-31D312C86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0106" y="5176911"/>
            <a:ext cx="3240625" cy="377211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4B5CD00-3F81-AA90-AE01-19564C0692B2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86B18EF-483D-4BF4-8C20-1ABE40A87C3B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B2986A5-B5DF-E631-0FF9-0ED6DD60D76A}"/>
              </a:ext>
            </a:extLst>
          </p:cNvPr>
          <p:cNvSpPr txBox="1"/>
          <p:nvPr/>
        </p:nvSpPr>
        <p:spPr>
          <a:xfrm>
            <a:off x="-189350" y="8141378"/>
            <a:ext cx="2391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SUPERVISÃO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MELHORIA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FUNCIONAL</a:t>
            </a:r>
          </a:p>
        </p:txBody>
      </p:sp>
    </p:spTree>
    <p:extLst>
      <p:ext uri="{BB962C8B-B14F-4D97-AF65-F5344CB8AC3E}">
        <p14:creationId xmlns:p14="http://schemas.microsoft.com/office/powerpoint/2010/main" val="396853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7203D-53FE-C60E-9AA1-6A1E81EBC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3AF62A90-55BC-825D-86BF-448944FD91CB}"/>
              </a:ext>
            </a:extLst>
          </p:cNvPr>
          <p:cNvSpPr txBox="1"/>
          <p:nvPr/>
        </p:nvSpPr>
        <p:spPr>
          <a:xfrm>
            <a:off x="3137581" y="2719826"/>
            <a:ext cx="8387669" cy="243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Prestação dos serviços de supervisão da execução das melhorias funcionais das rodovias GO-516 e GO-220 (Perolândia).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53,69 km</a:t>
            </a:r>
            <a:endParaRPr lang="pt-BR" dirty="0">
              <a:solidFill>
                <a:srgbClr val="FF000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R$ 1.188.310,53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SITUAÇÃO</a:t>
            </a: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: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 Concluído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950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A06CE6A7-5D4E-5072-4DF4-838E6269211A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9634E406-D8D3-6F62-294D-2CB5FD9A265F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AC9BEAAD-DD8D-7217-F996-9C289D12D3B2}"/>
              </a:ext>
            </a:extLst>
          </p:cNvPr>
          <p:cNvSpPr txBox="1"/>
          <p:nvPr/>
        </p:nvSpPr>
        <p:spPr>
          <a:xfrm>
            <a:off x="5058239" y="1300493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sym typeface="Gotham Bold"/>
              </a:rPr>
              <a:t>CONTRATO</a:t>
            </a: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124/2023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04FFCE3E-1D23-5E6C-8FEC-5753326679F1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A1CC3FDE-30E0-17B2-ADD7-5E5BB9C10B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9E2DE78-986E-B2C1-E027-82D473C3D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0050" y="1675628"/>
            <a:ext cx="5335905" cy="680466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004B635-5A3A-4C83-4233-7CA46013AFE8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100948E-902B-2973-7445-AFB076325170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D5A417D-74AD-5B14-8910-5B7C690EFAF1}"/>
              </a:ext>
            </a:extLst>
          </p:cNvPr>
          <p:cNvSpPr txBox="1"/>
          <p:nvPr/>
        </p:nvSpPr>
        <p:spPr>
          <a:xfrm>
            <a:off x="-189350" y="8141378"/>
            <a:ext cx="2391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SUPERVISÃO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MELHORIA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FUNCIONAL</a:t>
            </a:r>
          </a:p>
        </p:txBody>
      </p:sp>
    </p:spTree>
    <p:extLst>
      <p:ext uri="{BB962C8B-B14F-4D97-AF65-F5344CB8AC3E}">
        <p14:creationId xmlns:p14="http://schemas.microsoft.com/office/powerpoint/2010/main" val="3749396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EB156-48BA-58CE-11CF-EB4D1F566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4291FCB-4496-4E55-AB88-9F6818B7598B}"/>
              </a:ext>
            </a:extLst>
          </p:cNvPr>
          <p:cNvSpPr txBox="1"/>
          <p:nvPr/>
        </p:nvSpPr>
        <p:spPr>
          <a:xfrm>
            <a:off x="3137581" y="2719826"/>
            <a:ext cx="8387669" cy="243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Supervisão de melhoria funcional – GO-194, GO-421, GO-221, GO-206.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146,18 km</a:t>
            </a:r>
            <a:endParaRPr lang="pt-BR" dirty="0">
              <a:solidFill>
                <a:srgbClr val="FF000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R$ 1.817.285,92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SITUAÇÃO</a:t>
            </a: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: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 Concluído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950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00229E7F-3373-97B4-90C9-993181D1C812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D622B39C-9165-2889-F4DC-D59E8538AE8D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8D7FDC8B-B99E-1048-AEB4-0CA2855315BD}"/>
              </a:ext>
            </a:extLst>
          </p:cNvPr>
          <p:cNvSpPr txBox="1"/>
          <p:nvPr/>
        </p:nvSpPr>
        <p:spPr>
          <a:xfrm>
            <a:off x="5209322" y="1383755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72/2023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9719D6D6-B393-33E5-7AED-57F56E6CEA5A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5825524B-66E5-5414-C62F-D423D676C8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C82F40BF-2538-32C7-7BCA-9013CD749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0353" y="1637527"/>
            <a:ext cx="5625602" cy="697384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DC6DD13-EBA9-EF65-B31F-4E33BD4429D6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132E252-EF06-7285-7BE8-0C5DE59BE781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BD29FD2-AC5D-9039-B4F4-61C17BF15451}"/>
              </a:ext>
            </a:extLst>
          </p:cNvPr>
          <p:cNvSpPr txBox="1"/>
          <p:nvPr/>
        </p:nvSpPr>
        <p:spPr>
          <a:xfrm>
            <a:off x="-189350" y="8141378"/>
            <a:ext cx="2391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SUPERVISÃO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MELHORIA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FUNCIONAL</a:t>
            </a:r>
          </a:p>
        </p:txBody>
      </p:sp>
    </p:spTree>
    <p:extLst>
      <p:ext uri="{BB962C8B-B14F-4D97-AF65-F5344CB8AC3E}">
        <p14:creationId xmlns:p14="http://schemas.microsoft.com/office/powerpoint/2010/main" val="84813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7330C-5913-E984-85B2-B4F90F6CB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F9563F2C-398D-660B-4BE1-DF357569045E}"/>
              </a:ext>
            </a:extLst>
          </p:cNvPr>
          <p:cNvSpPr txBox="1"/>
          <p:nvPr/>
        </p:nvSpPr>
        <p:spPr>
          <a:xfrm>
            <a:off x="3137581" y="2719826"/>
            <a:ext cx="7027499" cy="243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Supervisão da execução das melhorias funcionais das rodovias no estado de Goiás: rodovia GO-118, trecho Brasília–Campos Belos.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341,48 km</a:t>
            </a:r>
            <a:endParaRPr lang="pt-BR" dirty="0">
              <a:solidFill>
                <a:srgbClr val="FF000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R$ 2.409.088,42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 Concluído 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30483A97-7023-568A-B046-D0F6F68BDBB1}"/>
              </a:ext>
            </a:extLst>
          </p:cNvPr>
          <p:cNvGrpSpPr/>
          <p:nvPr/>
        </p:nvGrpSpPr>
        <p:grpSpPr>
          <a:xfrm>
            <a:off x="3137581" y="1222441"/>
            <a:ext cx="6892416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EEF17B8-E0D2-FF59-7C00-1B55B167CD21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C0290D8D-D9EB-4326-6175-6C6BA0AF7597}"/>
              </a:ext>
            </a:extLst>
          </p:cNvPr>
          <p:cNvSpPr txBox="1"/>
          <p:nvPr/>
        </p:nvSpPr>
        <p:spPr>
          <a:xfrm>
            <a:off x="5209322" y="1383755"/>
            <a:ext cx="4820671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84/2023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A96EC3AD-57B7-BEC0-D4B3-6D91D17FD426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97E902C1-68F9-4F7B-22E3-AED0D32232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495" y="9182100"/>
            <a:ext cx="4963381" cy="118690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BFD1E6C-7D4A-0E4B-471B-99AAB324E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6467" y="1260541"/>
            <a:ext cx="6673648" cy="698506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B6663815-D3AA-FCFE-5528-66EA5B311911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9C5AD06-7C96-9DDB-7DB8-6BB9DCDF8029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E9C0E9F-57CF-C63E-1C9A-46CAADC420C1}"/>
              </a:ext>
            </a:extLst>
          </p:cNvPr>
          <p:cNvSpPr txBox="1"/>
          <p:nvPr/>
        </p:nvSpPr>
        <p:spPr>
          <a:xfrm>
            <a:off x="-189350" y="8141378"/>
            <a:ext cx="2391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SUPERVISÃO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MELHORIA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FUNCIONAL</a:t>
            </a:r>
          </a:p>
        </p:txBody>
      </p:sp>
    </p:spTree>
    <p:extLst>
      <p:ext uri="{BB962C8B-B14F-4D97-AF65-F5344CB8AC3E}">
        <p14:creationId xmlns:p14="http://schemas.microsoft.com/office/powerpoint/2010/main" val="2433254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8751e5-3848-4b34-b242-30c4c2c4c979">
      <Terms xmlns="http://schemas.microsoft.com/office/infopath/2007/PartnerControls"/>
    </lcf76f155ced4ddcb4097134ff3c332f>
    <Observa_x00e7__x00e3_o xmlns="4e8751e5-3848-4b34-b242-30c4c2c4c97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D77DFEAF9D094E9A75E4137E454D23" ma:contentTypeVersion="18" ma:contentTypeDescription="Crie um novo documento." ma:contentTypeScope="" ma:versionID="40a8e43dca7963e48a2fdfb70321ef92">
  <xsd:schema xmlns:xsd="http://www.w3.org/2001/XMLSchema" xmlns:xs="http://www.w3.org/2001/XMLSchema" xmlns:p="http://schemas.microsoft.com/office/2006/metadata/properties" xmlns:ns2="4e8751e5-3848-4b34-b242-30c4c2c4c979" xmlns:ns3="601e7d48-2183-4f89-9c5e-88ac28e28b7b" targetNamespace="http://schemas.microsoft.com/office/2006/metadata/properties" ma:root="true" ma:fieldsID="6d1c990e1239846d83663518dc2c1d47" ns2:_="" ns3:_="">
    <xsd:import namespace="4e8751e5-3848-4b34-b242-30c4c2c4c979"/>
    <xsd:import namespace="601e7d48-2183-4f89-9c5e-88ac28e28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751e5-3848-4b34-b242-30c4c2c4c9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f7517e60-a805-48cd-bbb9-1677eda333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_x00e7__x00e3_o" ma:index="22" nillable="true" ma:displayName="Observação " ma:internalName="Observa_x00e7__x00e3_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1e7d48-2183-4f89-9c5e-88ac28e28b7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A2A412-8849-494A-AD62-849C335074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19BDC2-EB4D-4233-A3E2-6B24AF9BD0D0}">
  <ds:schemaRefs>
    <ds:schemaRef ds:uri="http://schemas.microsoft.com/office/infopath/2007/PartnerControls"/>
    <ds:schemaRef ds:uri="http://schemas.microsoft.com/office/2006/documentManagement/types"/>
    <ds:schemaRef ds:uri="601e7d48-2183-4f89-9c5e-88ac28e28b7b"/>
    <ds:schemaRef ds:uri="http://purl.org/dc/dcmitype/"/>
    <ds:schemaRef ds:uri="http://www.w3.org/XML/1998/namespace"/>
    <ds:schemaRef ds:uri="http://purl.org/dc/terms/"/>
    <ds:schemaRef ds:uri="http://purl.org/dc/elements/1.1/"/>
    <ds:schemaRef ds:uri="4e8751e5-3848-4b34-b242-30c4c2c4c979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A9E4198-EA76-41D1-BA93-5C0E022BEA68}">
  <ds:schemaRefs>
    <ds:schemaRef ds:uri="4e8751e5-3848-4b34-b242-30c4c2c4c979"/>
    <ds:schemaRef ds:uri="601e7d48-2183-4f89-9c5e-88ac28e28b7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22166</TotalTime>
  <Words>773</Words>
  <Application>Microsoft Office PowerPoint</Application>
  <PresentationFormat>Personalizar</PresentationFormat>
  <Paragraphs>149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Calibri</vt:lpstr>
      <vt:lpstr>Gotham Light</vt:lpstr>
      <vt:lpstr>Gotham</vt:lpstr>
      <vt:lpstr>Arial</vt:lpstr>
      <vt:lpstr>Gotham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Cópia de Apresentação - Governo Goiás</dc:title>
  <dc:creator>Maykell Mendes Guimaraes</dc:creator>
  <cp:lastModifiedBy>Lucas Nogueira Lopes</cp:lastModifiedBy>
  <cp:revision>71</cp:revision>
  <dcterms:created xsi:type="dcterms:W3CDTF">2006-08-16T00:00:00Z</dcterms:created>
  <dcterms:modified xsi:type="dcterms:W3CDTF">2026-07-22T13:31:03Z</dcterms:modified>
  <dc:identifier>DAGdyuBx1aE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0x010100AFD77DFEAF9D094E9A75E4137E454D23</vt:lpwstr>
  </property>
  <property fmtid="{D5CDD505-2E9C-101B-9397-08002B2CF9AE}" pid="3" name="MediaServiceImageTags">
    <vt:lpwstr/>
  </property>
  <property fmtid="{D5CDD505-2E9C-101B-9397-08002B2CF9AE}" pid="4" name="JullianaGentil">
    <vt:lpwstr/>
  </property>
</Properties>
</file>