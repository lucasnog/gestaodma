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5"/>
  </p:notesMasterIdLst>
  <p:sldIdLst>
    <p:sldId id="283" r:id="rId5"/>
    <p:sldId id="508" r:id="rId6"/>
    <p:sldId id="509" r:id="rId7"/>
    <p:sldId id="510" r:id="rId8"/>
    <p:sldId id="507" r:id="rId9"/>
    <p:sldId id="512" r:id="rId10"/>
    <p:sldId id="513" r:id="rId11"/>
    <p:sldId id="514" r:id="rId12"/>
    <p:sldId id="515" r:id="rId13"/>
    <p:sldId id="511" r:id="rId14"/>
  </p:sldIdLst>
  <p:sldSz cx="18288000" cy="10287000"/>
  <p:notesSz cx="6858000" cy="9144000"/>
  <p:embeddedFontLst>
    <p:embeddedFont>
      <p:font typeface="Gotham" panose="020B0604020202020204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S::lucas.nlopes@fornecedores.goias.gov.br::b4794c58-b96d-4e49-8f1f-2dabfe8a9e6e" providerId="AD" clId="Web-{25EF5D90-94FE-EEF8-6F68-86E2E39C05E2}"/>
    <pc:docChg chg="modSld">
      <pc:chgData name="Lucas Nogueira Lopes" userId="S::lucas.nlopes@fornecedores.goias.gov.br::b4794c58-b96d-4e49-8f1f-2dabfe8a9e6e" providerId="AD" clId="Web-{25EF5D90-94FE-EEF8-6F68-86E2E39C05E2}" dt="2026-07-13T17:47:11.732" v="16" actId="1076"/>
      <pc:docMkLst>
        <pc:docMk/>
      </pc:docMkLst>
      <pc:sldChg chg="modSp">
        <pc:chgData name="Lucas Nogueira Lopes" userId="S::lucas.nlopes@fornecedores.goias.gov.br::b4794c58-b96d-4e49-8f1f-2dabfe8a9e6e" providerId="AD" clId="Web-{25EF5D90-94FE-EEF8-6F68-86E2E39C05E2}" dt="2026-07-13T17:47:11.732" v="16" actId="1076"/>
        <pc:sldMkLst>
          <pc:docMk/>
          <pc:sldMk cId="981862508" sldId="283"/>
        </pc:sldMkLst>
        <pc:spChg chg="mod">
          <ac:chgData name="Lucas Nogueira Lopes" userId="S::lucas.nlopes@fornecedores.goias.gov.br::b4794c58-b96d-4e49-8f1f-2dabfe8a9e6e" providerId="AD" clId="Web-{25EF5D90-94FE-EEF8-6F68-86E2E39C05E2}" dt="2026-07-13T17:46:52.559" v="10" actId="1076"/>
          <ac:spMkLst>
            <pc:docMk/>
            <pc:sldMk cId="981862508" sldId="283"/>
            <ac:spMk id="8" creationId="{16DFF5C0-C9F8-F81F-EBF4-2D036360D743}"/>
          </ac:spMkLst>
        </pc:spChg>
        <pc:spChg chg="mod">
          <ac:chgData name="Lucas Nogueira Lopes" userId="S::lucas.nlopes@fornecedores.goias.gov.br::b4794c58-b96d-4e49-8f1f-2dabfe8a9e6e" providerId="AD" clId="Web-{25EF5D90-94FE-EEF8-6F68-86E2E39C05E2}" dt="2026-07-13T17:47:05.607" v="13" actId="1076"/>
          <ac:spMkLst>
            <pc:docMk/>
            <pc:sldMk cId="981862508" sldId="283"/>
            <ac:spMk id="14" creationId="{3D3845FF-28B5-E316-4401-E361CFCB361A}"/>
          </ac:spMkLst>
        </pc:spChg>
        <pc:spChg chg="mod">
          <ac:chgData name="Lucas Nogueira Lopes" userId="S::lucas.nlopes@fornecedores.goias.gov.br::b4794c58-b96d-4e49-8f1f-2dabfe8a9e6e" providerId="AD" clId="Web-{25EF5D90-94FE-EEF8-6F68-86E2E39C05E2}" dt="2026-07-13T17:47:11.732" v="16" actId="1076"/>
          <ac:spMkLst>
            <pc:docMk/>
            <pc:sldMk cId="981862508" sldId="283"/>
            <ac:spMk id="27" creationId="{D5DBEB27-DE51-1326-D0EA-D604E4131F7D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undo custSel modSld">
      <pc:chgData name="Lucas Nogueira Lopes" userId="b4794c58-b96d-4e49-8f1f-2dabfe8a9e6e" providerId="ADAL" clId="{816383E1-CDCA-4CC2-B79A-A3F515FC65D6}" dt="2026-07-21T17:43:58.103" v="29"/>
      <pc:docMkLst>
        <pc:docMk/>
      </pc:docMkLst>
      <pc:sldChg chg="modSp mod">
        <pc:chgData name="Lucas Nogueira Lopes" userId="b4794c58-b96d-4e49-8f1f-2dabfe8a9e6e" providerId="ADAL" clId="{816383E1-CDCA-4CC2-B79A-A3F515FC65D6}" dt="2026-07-21T17:43:58.103" v="29"/>
        <pc:sldMkLst>
          <pc:docMk/>
          <pc:sldMk cId="3874982637" sldId="511"/>
        </pc:sldMkLst>
        <pc:spChg chg="mod">
          <ac:chgData name="Lucas Nogueira Lopes" userId="b4794c58-b96d-4e49-8f1f-2dabfe8a9e6e" providerId="ADAL" clId="{816383E1-CDCA-4CC2-B79A-A3F515FC65D6}" dt="2026-07-21T17:43:58.103" v="29"/>
          <ac:spMkLst>
            <pc:docMk/>
            <pc:sldMk cId="3874982637" sldId="511"/>
            <ac:spMk id="28" creationId="{D9C89664-D38A-044A-5FFB-6A69617BDA7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AD82-3336-F8C3-131A-FF83105F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1B1BE6-9B04-18AF-3C07-8B03227B8C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BB1C5-B6F5-1649-0F78-AFF0F72A5D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E08792-76D6-7B84-89F6-0562941E0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5BC197-D608-28FB-BF7F-2D6F4193A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22FB6-642A-8985-F7EB-6513621DBF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5B04A-45F5-EDF7-ABEB-BA1C543EC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3250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137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8834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D7BEC-425F-6FB7-C477-93566577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408769-0EB9-1491-0F94-B7899557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8AF3EF-81F3-6729-AE6A-06166E7C5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AB560D-5D6E-3F7C-7F82-3AF194A6D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6929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6AC72-73CD-7EF2-990A-80848FCF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3C99C7-5535-49AC-77F3-F37CD4B40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A9C203C-7274-700D-8037-A30E8CAAC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5A51D1-2211-8F71-C497-873934B1C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0448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F3F3-0E1F-3234-A4B1-D6507782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15D1F3-5962-B706-A3AF-E6EDBA99C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89C65A-1312-B3ED-5402-35D0A632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4F507F-7100-4292-78A9-B1FC2D9A2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069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7E3C1-7B1D-CC84-2AC4-8014557F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6C4E80-0500-F23C-1C21-B7352618B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4BE67B-15D4-2390-5CCE-3971987BA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AD50EA-3E36-A068-6CD1-5FBAFC0F0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7768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BC80-D725-52EF-F8C7-FCB9278A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B4424DAC-82A1-5BD8-598B-E31F1C6B1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624839" y="1053732"/>
            <a:ext cx="14548474" cy="8179536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932D07F6-269D-4019-F8DE-4024505DD340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FF9B84C-7E9A-9B6E-86F4-3D45156876A6}"/>
              </a:ext>
            </a:extLst>
          </p:cNvPr>
          <p:cNvGrpSpPr/>
          <p:nvPr/>
        </p:nvGrpSpPr>
        <p:grpSpPr>
          <a:xfrm>
            <a:off x="5162550" y="10804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641B668-8A9E-C8B0-F324-A3882ED4D2BB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4C550A7-E925-4B07-EBF2-D3C4271F7B88}"/>
              </a:ext>
            </a:extLst>
          </p:cNvPr>
          <p:cNvSpPr txBox="1"/>
          <p:nvPr/>
        </p:nvSpPr>
        <p:spPr>
          <a:xfrm>
            <a:off x="6113943" y="-190500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05.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56A4F75-D77A-2647-CF79-69F96C0AE00C}"/>
              </a:ext>
            </a:extLst>
          </p:cNvPr>
          <p:cNvSpPr txBox="1"/>
          <p:nvPr/>
        </p:nvSpPr>
        <p:spPr>
          <a:xfrm>
            <a:off x="6017858" y="3693429"/>
            <a:ext cx="9214619" cy="2646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400" dirty="0">
                <a:solidFill>
                  <a:srgbClr val="0E9E3C"/>
                </a:solidFill>
                <a:latin typeface="Gotham"/>
                <a:sym typeface="Gotham"/>
              </a:rPr>
              <a:t>GMK: GOÍAS EM MOVIMENTO KALUNGAS </a:t>
            </a:r>
          </a:p>
          <a:p>
            <a:pPr lvl="1"/>
            <a:r>
              <a:rPr lang="en-US" sz="3400" dirty="0">
                <a:solidFill>
                  <a:srgbClr val="0E9E3C"/>
                </a:solidFill>
                <a:latin typeface="Gotham"/>
                <a:sym typeface="Gotham"/>
              </a:rPr>
              <a:t>- GMK-OAC: ESTRUTURAS</a:t>
            </a:r>
          </a:p>
          <a:p>
            <a:pPr lvl="1"/>
            <a:r>
              <a:rPr lang="en-US" sz="3400" dirty="0">
                <a:solidFill>
                  <a:srgbClr val="0E9E3C"/>
                </a:solidFill>
                <a:latin typeface="Gotham"/>
                <a:sym typeface="Gotham"/>
              </a:rPr>
              <a:t>- GMK-PROJ: PROJETOS</a:t>
            </a:r>
          </a:p>
          <a:p>
            <a:pPr lvl="1"/>
            <a:r>
              <a:rPr lang="en-US" sz="3400" dirty="0">
                <a:solidFill>
                  <a:srgbClr val="0E9E3C"/>
                </a:solidFill>
                <a:latin typeface="Gotham"/>
                <a:sym typeface="Gotham"/>
              </a:rPr>
              <a:t>- GMPK: KALUNGAS</a:t>
            </a:r>
          </a:p>
          <a:p>
            <a:pPr algn="l"/>
            <a:endParaRPr lang="en-US" sz="3600" dirty="0">
              <a:solidFill>
                <a:srgbClr val="0E9E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23B61313-108C-26BF-74B5-3346869F9F5A}"/>
              </a:ext>
            </a:extLst>
          </p:cNvPr>
          <p:cNvGrpSpPr/>
          <p:nvPr/>
        </p:nvGrpSpPr>
        <p:grpSpPr>
          <a:xfrm>
            <a:off x="7588709" y="6152487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D0731A3-86C0-AC5E-39D7-7385AC4D1EE6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FE4F4721-A2E7-CCDF-9474-6E214919608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864F0082-4CE2-E6B6-8056-E6F2590190D6}"/>
              </a:ext>
            </a:extLst>
          </p:cNvPr>
          <p:cNvSpPr txBox="1"/>
          <p:nvPr/>
        </p:nvSpPr>
        <p:spPr>
          <a:xfrm>
            <a:off x="5615957" y="6706052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D9207683-CC91-F1A6-FC49-9BAB2570F509}"/>
              </a:ext>
            </a:extLst>
          </p:cNvPr>
          <p:cNvSpPr txBox="1"/>
          <p:nvPr/>
        </p:nvSpPr>
        <p:spPr>
          <a:xfrm>
            <a:off x="9094354" y="6365755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BD68CF61-38CD-D06F-13F1-02951B839948}"/>
              </a:ext>
            </a:extLst>
          </p:cNvPr>
          <p:cNvGrpSpPr/>
          <p:nvPr/>
        </p:nvGrpSpPr>
        <p:grpSpPr>
          <a:xfrm>
            <a:off x="10735774" y="6082602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B111621-EE6E-EDA1-BC2F-D159A13BAE63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9047420C-6577-394E-9C60-3C6E5C75CCFB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12B48859-9E2E-0682-7883-FE0FC5A83133}"/>
              </a:ext>
            </a:extLst>
          </p:cNvPr>
          <p:cNvSpPr txBox="1"/>
          <p:nvPr/>
        </p:nvSpPr>
        <p:spPr>
          <a:xfrm>
            <a:off x="12297988" y="6227011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DFF5C0-C9F8-F81F-EBF4-2D036360D743}"/>
              </a:ext>
            </a:extLst>
          </p:cNvPr>
          <p:cNvSpPr txBox="1"/>
          <p:nvPr/>
        </p:nvSpPr>
        <p:spPr>
          <a:xfrm>
            <a:off x="7759708" y="7312025"/>
            <a:ext cx="2470678" cy="6433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sym typeface="Gotham"/>
              </a:rPr>
              <a:t>31 OACs EM EXECUÇÃO  </a:t>
            </a:r>
            <a:endParaRPr lang="pt-BR" dirty="0"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D3845FF-28B5-E316-4401-E361CFCB361A}"/>
              </a:ext>
            </a:extLst>
          </p:cNvPr>
          <p:cNvSpPr txBox="1"/>
          <p:nvPr/>
        </p:nvSpPr>
        <p:spPr>
          <a:xfrm>
            <a:off x="11060412" y="7132260"/>
            <a:ext cx="2277865" cy="9255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9 CONTRATOS EM TERRITÓRIOS KALUNGA</a:t>
            </a:r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A8C30CA-2516-866B-A6EB-16CED6571C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1F54461-0900-8CF9-C24C-B7D2E5BADA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5" t="23165" r="14949" b="23906"/>
          <a:stretch>
            <a:fillRect/>
          </a:stretch>
        </p:blipFill>
        <p:spPr>
          <a:xfrm>
            <a:off x="10793857" y="364488"/>
            <a:ext cx="4002797" cy="2765002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EEA29604-F9FE-3E47-1F91-5405B61BC6C3}"/>
              </a:ext>
            </a:extLst>
          </p:cNvPr>
          <p:cNvGrpSpPr/>
          <p:nvPr/>
        </p:nvGrpSpPr>
        <p:grpSpPr>
          <a:xfrm>
            <a:off x="13917913" y="6102775"/>
            <a:ext cx="2812677" cy="3028750"/>
            <a:chOff x="0" y="0"/>
            <a:chExt cx="4019550" cy="409257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1BE6717-E1D1-73A4-DECE-464AB7710A77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6C181BB1-BD92-7C29-8843-511C84AA27CD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1" name="TextBox 26">
            <a:extLst>
              <a:ext uri="{FF2B5EF4-FFF2-40B4-BE49-F238E27FC236}">
                <a16:creationId xmlns:a16="http://schemas.microsoft.com/office/drawing/2014/main" id="{4DCF4CA5-3BDF-B7EE-7D27-3768FB37429B}"/>
              </a:ext>
            </a:extLst>
          </p:cNvPr>
          <p:cNvSpPr txBox="1"/>
          <p:nvPr/>
        </p:nvSpPr>
        <p:spPr>
          <a:xfrm>
            <a:off x="15480127" y="6247184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DBEB27-DE51-1326-D0EA-D604E4131F7D}"/>
              </a:ext>
            </a:extLst>
          </p:cNvPr>
          <p:cNvSpPr txBox="1"/>
          <p:nvPr/>
        </p:nvSpPr>
        <p:spPr>
          <a:xfrm>
            <a:off x="14200117" y="7090972"/>
            <a:ext cx="2248268" cy="9115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</a:t>
            </a:r>
            <a:r>
              <a:rPr lang="pt-BR" b="1" dirty="0">
                <a:solidFill>
                  <a:schemeClr val="bg1"/>
                </a:solidFill>
                <a:latin typeface="Gotham"/>
                <a:sym typeface="Gotham"/>
              </a:rPr>
              <a:t>CONTRATADO: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</a:rPr>
              <a:t>R$ 59.506.102,96</a:t>
            </a:r>
          </a:p>
        </p:txBody>
      </p:sp>
    </p:spTree>
    <p:extLst>
      <p:ext uri="{BB962C8B-B14F-4D97-AF65-F5344CB8AC3E}">
        <p14:creationId xmlns:p14="http://schemas.microsoft.com/office/powerpoint/2010/main" val="981862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DE49-C1C6-2D32-6357-7E3C8041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FF44679-D709-8E4F-469F-47D0082D7C21}"/>
              </a:ext>
            </a:extLst>
          </p:cNvPr>
          <p:cNvSpPr txBox="1"/>
          <p:nvPr/>
        </p:nvSpPr>
        <p:spPr>
          <a:xfrm>
            <a:off x="3784136" y="2874435"/>
            <a:ext cx="7981143" cy="6179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estruturas de obras de arte corrente (OAC) na região da Comunidade Kalunga, no município de Cavalcante - GO.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3A - </a:t>
            </a:r>
            <a:r>
              <a:rPr lang="pt-BR" dirty="0">
                <a:latin typeface="Gotham" panose="020B0604020202020204"/>
              </a:rPr>
              <a:t>Água de Perdizes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7 - </a:t>
            </a:r>
            <a:r>
              <a:rPr lang="pt-BR" dirty="0">
                <a:latin typeface="Gotham" panose="020B0604020202020204"/>
              </a:rPr>
              <a:t>Serra da Juliana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8 - </a:t>
            </a:r>
            <a:r>
              <a:rPr lang="pt-BR" dirty="0">
                <a:latin typeface="Gotham" panose="020B0604020202020204"/>
              </a:rPr>
              <a:t>Pé da Serra da Juliana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9 - </a:t>
            </a:r>
            <a:r>
              <a:rPr lang="pt-BR" dirty="0">
                <a:latin typeface="Gotham" panose="020B0604020202020204"/>
              </a:rPr>
              <a:t>Pedrão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10 - </a:t>
            </a:r>
            <a:r>
              <a:rPr lang="pt-BR" dirty="0" err="1">
                <a:latin typeface="Gotham" panose="020B0604020202020204"/>
              </a:rPr>
              <a:t>Buritirana</a:t>
            </a:r>
            <a:endParaRPr lang="pt-BR" dirty="0">
              <a:latin typeface="Gotham" panose="020B060402020202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11 - </a:t>
            </a:r>
            <a:r>
              <a:rPr lang="pt-BR" dirty="0">
                <a:latin typeface="Gotham" panose="020B0604020202020204"/>
              </a:rPr>
              <a:t>Córrego da Lapa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12 - </a:t>
            </a:r>
            <a:r>
              <a:rPr lang="pt-BR" dirty="0">
                <a:latin typeface="Gotham" panose="020B0604020202020204"/>
              </a:rPr>
              <a:t>Água Branca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13 - </a:t>
            </a:r>
            <a:r>
              <a:rPr lang="pt-BR" dirty="0">
                <a:latin typeface="Gotham" panose="020B0604020202020204"/>
              </a:rPr>
              <a:t>Gameleira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14 - </a:t>
            </a:r>
            <a:r>
              <a:rPr lang="pt-BR" dirty="0" err="1">
                <a:latin typeface="Gotham" panose="020B0604020202020204"/>
              </a:rPr>
              <a:t>Sinda</a:t>
            </a:r>
            <a:endParaRPr lang="pt-BR" dirty="0">
              <a:latin typeface="Gotham" panose="020B060402020202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15 - </a:t>
            </a:r>
            <a:r>
              <a:rPr lang="pt-BR" dirty="0">
                <a:latin typeface="Gotham" panose="020B0604020202020204"/>
              </a:rPr>
              <a:t>Morro Redondo 01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16 - </a:t>
            </a:r>
            <a:r>
              <a:rPr lang="pt-BR" dirty="0">
                <a:latin typeface="Gotham" panose="020B0604020202020204"/>
              </a:rPr>
              <a:t>Morro Redondo 02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17 - </a:t>
            </a:r>
            <a:r>
              <a:rPr lang="pt-BR" dirty="0">
                <a:latin typeface="Gotham" panose="020B0604020202020204"/>
              </a:rPr>
              <a:t>Buriti </a:t>
            </a:r>
            <a:r>
              <a:rPr lang="pt-BR" dirty="0" err="1">
                <a:latin typeface="Gotham" panose="020B0604020202020204"/>
              </a:rPr>
              <a:t>Venacio</a:t>
            </a:r>
            <a:endParaRPr lang="pt-BR" dirty="0">
              <a:latin typeface="Gotham" panose="020B06040202020202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R$ 10.764.242,84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87,3%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6770DAE-DB76-D7FB-D79F-01503E85C17A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E6AFC48-ACCF-CD6F-8E3B-3B9315DBCE0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3927CBE-0912-16B1-FFDA-7F483F858451}"/>
              </a:ext>
            </a:extLst>
          </p:cNvPr>
          <p:cNvSpPr txBox="1"/>
          <p:nvPr/>
        </p:nvSpPr>
        <p:spPr>
          <a:xfrm>
            <a:off x="6474822" y="1481788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106/2025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50A7B4D-EA96-F085-1DF5-7FE3C7EF850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C6620169-E0CC-3488-24D9-879C9051D3E4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C19C35-010A-CE10-AE2C-B4EC444438C6}"/>
              </a:ext>
            </a:extLst>
          </p:cNvPr>
          <p:cNvSpPr txBox="1"/>
          <p:nvPr/>
        </p:nvSpPr>
        <p:spPr>
          <a:xfrm>
            <a:off x="4082804" y="83698"/>
            <a:ext cx="13669413" cy="56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- GMK - OACs</a:t>
            </a: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4D23C0E6-1DC7-1E4A-ADBB-1B4235875F82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CAD641A9-58BE-3113-8EAF-9318F5A6A007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9CBEB061-69BD-A46A-DC0D-B620E696CD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FF4C090E-DF4F-EFCF-FB28-BE15D9143549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FDEF6B5-DB2A-7051-563B-CD1C889101DC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5CE10BE-27B3-BE5F-DE83-CCFB69FBEF7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500D7CFF-1A17-830D-2B01-3AF21B958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4" r="26024"/>
          <a:stretch/>
        </p:blipFill>
        <p:spPr>
          <a:xfrm>
            <a:off x="13589074" y="1104231"/>
            <a:ext cx="3297829" cy="386851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86AA0A5B-985D-56E9-411F-E95719B0D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4" r="26024"/>
          <a:stretch/>
        </p:blipFill>
        <p:spPr>
          <a:xfrm>
            <a:off x="13589074" y="5231938"/>
            <a:ext cx="3297829" cy="3868513"/>
          </a:xfrm>
          <a:prstGeom prst="round2DiagRect">
            <a:avLst>
              <a:gd name="adj1" fmla="val 17384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26677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03A1-912F-A858-55A3-8AD9CD1F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02D7ADF2-A649-8F30-F337-8FB41DDD1D5A}"/>
              </a:ext>
            </a:extLst>
          </p:cNvPr>
          <p:cNvSpPr txBox="1"/>
          <p:nvPr/>
        </p:nvSpPr>
        <p:spPr>
          <a:xfrm>
            <a:off x="3784136" y="2874435"/>
            <a:ext cx="7981143" cy="4932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estruturas de obras de arte corrente (OAC) na região das Comunidades </a:t>
            </a:r>
            <a:r>
              <a:rPr lang="pt-BR" dirty="0" err="1">
                <a:latin typeface="Gotham" panose="020B0604020202020204"/>
              </a:rPr>
              <a:t>Kalungas</a:t>
            </a:r>
            <a:r>
              <a:rPr lang="pt-BR" dirty="0">
                <a:latin typeface="Gotham" panose="020B0604020202020204"/>
              </a:rPr>
              <a:t>, nos municípios de Teresina de Goiás e Cavalcante - GO, conforme especificações do Eixo 06 - Etapa II (lote 1).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20 - </a:t>
            </a:r>
            <a:r>
              <a:rPr lang="pt-BR" dirty="0">
                <a:latin typeface="Gotham" panose="020B0604020202020204"/>
              </a:rPr>
              <a:t>Riacho Quebra Canela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41 - </a:t>
            </a:r>
            <a:r>
              <a:rPr lang="pt-BR" dirty="0">
                <a:latin typeface="Gotham" panose="020B0604020202020204"/>
              </a:rPr>
              <a:t>Brejão </a:t>
            </a:r>
            <a:r>
              <a:rPr lang="pt-BR" dirty="0" err="1">
                <a:latin typeface="Gotham" panose="020B0604020202020204"/>
              </a:rPr>
              <a:t>Reimar</a:t>
            </a:r>
            <a:endParaRPr lang="pt-BR" dirty="0">
              <a:latin typeface="Gotham" panose="020B0604020202020204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88 - </a:t>
            </a:r>
            <a:r>
              <a:rPr lang="pt-BR" dirty="0">
                <a:latin typeface="Gotham" panose="020B0604020202020204"/>
              </a:rPr>
              <a:t>Caminho de </a:t>
            </a:r>
            <a:r>
              <a:rPr lang="pt-BR" dirty="0" err="1">
                <a:latin typeface="Gotham" panose="020B0604020202020204"/>
              </a:rPr>
              <a:t>Manesinho</a:t>
            </a:r>
            <a:endParaRPr lang="pt-BR" dirty="0">
              <a:latin typeface="Gotham" panose="020B0604020202020204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91 - </a:t>
            </a:r>
            <a:r>
              <a:rPr lang="pt-BR" dirty="0">
                <a:latin typeface="Gotham" panose="020B0604020202020204"/>
              </a:rPr>
              <a:t>Estrada Edivaldo 1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92 - </a:t>
            </a:r>
            <a:r>
              <a:rPr lang="pt-BR" dirty="0">
                <a:latin typeface="Gotham" panose="020B0604020202020204"/>
              </a:rPr>
              <a:t>Estrada Edivaldo 2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93 - </a:t>
            </a:r>
            <a:r>
              <a:rPr lang="pt-BR" dirty="0">
                <a:latin typeface="Gotham" panose="020B0604020202020204"/>
              </a:rPr>
              <a:t>Entrada Boa</a:t>
            </a:r>
            <a:endParaRPr lang="pt-BR" dirty="0">
              <a:solidFill>
                <a:srgbClr val="3C3C3C"/>
              </a:solidFill>
              <a:latin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R$ 4.361.996,42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51,3%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3173E10-B609-B99D-4D4D-261706FEE270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EF3E9FE-DD15-4E74-222A-79377A957C29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9F5119A-7ABF-6366-CF4E-C07354B06D4F}"/>
              </a:ext>
            </a:extLst>
          </p:cNvPr>
          <p:cNvSpPr txBox="1"/>
          <p:nvPr/>
        </p:nvSpPr>
        <p:spPr>
          <a:xfrm>
            <a:off x="6443437" y="155830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171/2025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4BF686F-4E38-97CF-8E08-41BAD940AD1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FBE5888-DBB5-3ABE-24F0-7EA5BFDED4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0" r="13850"/>
          <a:stretch/>
        </p:blipFill>
        <p:spPr>
          <a:xfrm>
            <a:off x="13259463" y="804934"/>
            <a:ext cx="3648791" cy="378502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6D820B0-B0DC-6128-3E91-3166FD435A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3" r="21533"/>
          <a:stretch/>
        </p:blipFill>
        <p:spPr>
          <a:xfrm>
            <a:off x="13259368" y="5076130"/>
            <a:ext cx="3622429" cy="357888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6F2E861-7864-D78D-B829-5DC5BF0085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3A4FE8F1-816E-0203-4AB2-8D51E8C6EDD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5A52E3E-556B-C3B0-5440-91897DBB6176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FE77C65-3253-DD3E-7744-93431415235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50900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652D-62B1-7130-92F7-2154B6B3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EF74635-55BB-8C7F-A5A1-7BF7FD197D28}"/>
              </a:ext>
            </a:extLst>
          </p:cNvPr>
          <p:cNvSpPr txBox="1"/>
          <p:nvPr/>
        </p:nvSpPr>
        <p:spPr>
          <a:xfrm>
            <a:off x="3784136" y="2874435"/>
            <a:ext cx="7981143" cy="5486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estruturas de obras de arte corrente (OAC) na região das Comunidades </a:t>
            </a:r>
            <a:r>
              <a:rPr lang="pt-BR" dirty="0" err="1">
                <a:latin typeface="Gotham" panose="020B0604020202020204"/>
              </a:rPr>
              <a:t>Kalungas</a:t>
            </a:r>
            <a:r>
              <a:rPr lang="pt-BR" dirty="0">
                <a:latin typeface="Gotham" panose="020B0604020202020204"/>
              </a:rPr>
              <a:t>, nos municípios de Teresina de Goiás e Cavalcante - GO, conforme especificações do Eixo 06 - Etapa II (lote 2).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8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42 - </a:t>
            </a:r>
            <a:r>
              <a:rPr lang="pt-BR" dirty="0">
                <a:latin typeface="Gotham" panose="020B0604020202020204"/>
              </a:rPr>
              <a:t>Caminho da Escola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64 - </a:t>
            </a:r>
            <a:r>
              <a:rPr lang="pt-BR" dirty="0">
                <a:latin typeface="Gotham" panose="020B0604020202020204"/>
              </a:rPr>
              <a:t>Caminho do Funil I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65 - </a:t>
            </a:r>
            <a:r>
              <a:rPr lang="pt-BR" dirty="0">
                <a:latin typeface="Gotham" panose="020B0604020202020204"/>
              </a:rPr>
              <a:t>Caminho do Funil II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89 - </a:t>
            </a:r>
            <a:r>
              <a:rPr lang="pt-BR" dirty="0">
                <a:latin typeface="Gotham" panose="020B0604020202020204"/>
              </a:rPr>
              <a:t>Estrada Zé Cego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90 - </a:t>
            </a:r>
            <a:r>
              <a:rPr lang="pt-BR" dirty="0">
                <a:latin typeface="Gotham" panose="020B0604020202020204"/>
              </a:rPr>
              <a:t>Estrada Zé Cego II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94 - </a:t>
            </a:r>
            <a:r>
              <a:rPr lang="pt-BR" dirty="0">
                <a:latin typeface="Gotham" panose="020B0604020202020204"/>
              </a:rPr>
              <a:t>Guarda do Colégio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95 - </a:t>
            </a:r>
            <a:r>
              <a:rPr lang="pt-BR" dirty="0">
                <a:latin typeface="Gotham" panose="020B0604020202020204"/>
              </a:rPr>
              <a:t>Bueiro do Dinei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Ponto 96 - </a:t>
            </a:r>
            <a:r>
              <a:rPr lang="pt-BR" dirty="0">
                <a:latin typeface="Gotham" panose="020B0604020202020204"/>
              </a:rPr>
              <a:t>Estrada do </a:t>
            </a:r>
            <a:r>
              <a:rPr lang="pt-BR" dirty="0" err="1">
                <a:latin typeface="Gotham" panose="020B0604020202020204"/>
              </a:rPr>
              <a:t>Deo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R$ 4.406.635,59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42,5%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C878C46-47BB-7B0D-EF6B-C0B623A7A8C3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80F9B97-3A60-8BF5-11A8-AFD00BDB006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1F3573E6-8A84-63DD-3D92-91EF223E5576}"/>
              </a:ext>
            </a:extLst>
          </p:cNvPr>
          <p:cNvSpPr txBox="1"/>
          <p:nvPr/>
        </p:nvSpPr>
        <p:spPr>
          <a:xfrm>
            <a:off x="6297816" y="155830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172/2025 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538B0E3-BD44-3E7F-29DC-74A1DB92AE9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0A01C9-9DDB-55E5-0155-E045C0F7B2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3" r="18733"/>
          <a:stretch/>
        </p:blipFill>
        <p:spPr>
          <a:xfrm>
            <a:off x="13431725" y="627908"/>
            <a:ext cx="3451056" cy="4139079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793914B-C615-A914-073A-D65864BFF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3" r="18733"/>
          <a:stretch/>
        </p:blipFill>
        <p:spPr>
          <a:xfrm>
            <a:off x="13431726" y="4886747"/>
            <a:ext cx="3451056" cy="4139079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A6718DA-05DC-687A-D0EE-5E76F09C06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982A540-4D28-B3FF-71C6-F2A54DF919C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282C23A-DCC7-C3A0-9B1D-89BF1B191CCA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D480316-4575-DE43-21BA-5599C5099DF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33244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AE6E-D340-4092-8378-DD48A93D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CB059DF-1A50-6B58-203D-84DF09B1F3C9}"/>
              </a:ext>
            </a:extLst>
          </p:cNvPr>
          <p:cNvSpPr txBox="1"/>
          <p:nvPr/>
        </p:nvSpPr>
        <p:spPr>
          <a:xfrm>
            <a:off x="3784136" y="2874435"/>
            <a:ext cx="7981143" cy="424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estruturas de obras de arte corrente (OAC) e obras de arte especiais (OAE) na região da Comunidade Kalunga, no município de Cavalcante - GO.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cs typeface="Arial" panose="020B0604020202020204" pitchFamily="34" charset="0"/>
              </a:rPr>
              <a:t>Ponto 1</a:t>
            </a:r>
            <a:r>
              <a:rPr lang="pt-BR" dirty="0">
                <a:latin typeface="Gotham" panose="020B0604020202020204"/>
                <a:cs typeface="Arial" panose="020B0604020202020204" pitchFamily="34" charset="0"/>
              </a:rPr>
              <a:t>: Córrego Quebra Coco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cs typeface="Arial" panose="020B0604020202020204" pitchFamily="34" charset="0"/>
              </a:rPr>
              <a:t>Ponto 2</a:t>
            </a:r>
            <a:r>
              <a:rPr lang="pt-BR" dirty="0">
                <a:latin typeface="Gotham" panose="020B0604020202020204"/>
                <a:cs typeface="Arial" panose="020B0604020202020204" pitchFamily="34" charset="0"/>
              </a:rPr>
              <a:t>: Córrego Tamanduá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cs typeface="Arial" panose="020B0604020202020204" pitchFamily="34" charset="0"/>
              </a:rPr>
              <a:t>Ponto 3</a:t>
            </a:r>
            <a:r>
              <a:rPr lang="pt-BR" dirty="0">
                <a:latin typeface="Gotham" panose="020B0604020202020204"/>
                <a:cs typeface="Arial" panose="020B0604020202020204" pitchFamily="34" charset="0"/>
              </a:rPr>
              <a:t>: Córrego Bom Jesus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cs typeface="Arial" panose="020B0604020202020204" pitchFamily="34" charset="0"/>
              </a:rPr>
              <a:t>Ponto 5</a:t>
            </a:r>
            <a:r>
              <a:rPr lang="pt-BR" dirty="0">
                <a:latin typeface="Gotham" panose="020B0604020202020204"/>
                <a:cs typeface="Arial" panose="020B0604020202020204" pitchFamily="34" charset="0"/>
              </a:rPr>
              <a:t>: Córrego Pedra Preta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  <a:cs typeface="Arial" panose="020B0604020202020204" pitchFamily="34" charset="0"/>
              </a:rPr>
              <a:t>Ponto 6</a:t>
            </a:r>
            <a:r>
              <a:rPr lang="pt-BR" dirty="0">
                <a:latin typeface="Gotham" panose="020B0604020202020204"/>
                <a:cs typeface="Arial" panose="020B0604020202020204" pitchFamily="34" charset="0"/>
              </a:rPr>
              <a:t>: Córrego Pedra Preta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R$ 7.010.695,12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94,6%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1BC6401-CFBB-1FD2-1B73-02756C1E28AD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8CDEEB1-D8E2-A15D-AB79-C57A4CC78AE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49ECEE2-97FB-1EBD-5CAB-4137267F20C9}"/>
              </a:ext>
            </a:extLst>
          </p:cNvPr>
          <p:cNvSpPr txBox="1"/>
          <p:nvPr/>
        </p:nvSpPr>
        <p:spPr>
          <a:xfrm>
            <a:off x="6276702" y="1409198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054/2025</a:t>
            </a:r>
            <a:endParaRPr lang="en-US" sz="2000" b="1" dirty="0">
              <a:solidFill>
                <a:srgbClr val="FFFFFF"/>
              </a:solidFill>
              <a:highlight>
                <a:srgbClr val="FF0000"/>
              </a:highlight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4D895FA-14CE-14FF-FB79-D4C53EF681F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B9B64238-8734-827A-3F30-0B5E05B7CA3C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1AED5F-E6B6-6210-0B81-8B272AD6AA99}"/>
              </a:ext>
            </a:extLst>
          </p:cNvPr>
          <p:cNvSpPr txBox="1"/>
          <p:nvPr/>
        </p:nvSpPr>
        <p:spPr>
          <a:xfrm>
            <a:off x="4082804" y="83698"/>
            <a:ext cx="13669413" cy="56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GMK - OACs</a:t>
            </a: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43ED5132-25C1-AD1A-8CFD-0D5F1D6F0475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2E501333-0B2F-9D88-0CC1-A3CFCE1AE867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E9A708B7-0EFC-BF62-AB18-C1E4B756AF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01BAD579-FEAA-8234-4C3B-211297061433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5B4BCFA-75E5-2DAB-1A70-5C80F91E8EA0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A94440B-5B16-EA00-7F19-F9D4BA04B89C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E6A2D992-CADE-FEC8-F622-696438C6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0" r="26550"/>
          <a:stretch/>
        </p:blipFill>
        <p:spPr>
          <a:xfrm>
            <a:off x="13431725" y="1195922"/>
            <a:ext cx="3186501" cy="382178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9463E266-898B-1946-0247-2C7D46DD9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0" r="26550"/>
          <a:stretch/>
        </p:blipFill>
        <p:spPr>
          <a:xfrm>
            <a:off x="13431726" y="5204045"/>
            <a:ext cx="3186501" cy="3821781"/>
          </a:xfrm>
          <a:prstGeom prst="round2DiagRect">
            <a:avLst>
              <a:gd name="adj1" fmla="val 17384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409569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FC16-F5D2-518B-3E4C-5F2C3B2D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28F0B15-EE74-CD44-82A5-5BC493CFD00A}"/>
              </a:ext>
            </a:extLst>
          </p:cNvPr>
          <p:cNvSpPr txBox="1"/>
          <p:nvPr/>
        </p:nvSpPr>
        <p:spPr>
          <a:xfrm>
            <a:off x="3784136" y="2874435"/>
            <a:ext cx="7981143" cy="6040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elaboração de projetos executivos para obras de arte correntes e especiais para o território Kalunga, no nordeste do estado de Goiás (lote 02).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10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18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Córrego de Raiz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19: </a:t>
            </a:r>
            <a:r>
              <a:rPr lang="pt-BR" dirty="0" err="1">
                <a:latin typeface="Gotham" panose="020B0604020202020204"/>
              </a:rPr>
              <a:t>Capoa</a:t>
            </a:r>
            <a:endParaRPr lang="pt-BR" b="1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20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</a:t>
            </a:r>
            <a:r>
              <a:rPr lang="pt-BR" dirty="0">
                <a:latin typeface="Gotham" panose="020B0604020202020204"/>
              </a:rPr>
              <a:t> Capão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21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Mato Grosso 1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22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Mato Grosso 2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23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Serra do Estevão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24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Pé da Serra do Estevão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25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Rio dos Porcos 2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26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Riachão</a:t>
            </a:r>
            <a:endParaRPr lang="pt-BR" b="1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27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Rio dos Porcos 1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R$ 575.054,33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40,6%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7B64CD1-1785-4791-A62B-8006561EC405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D094E98-1C39-3611-B5A5-65B3D4A6AB3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5EEF074B-BCFE-58E3-8290-B4BCE83BCB9D}"/>
              </a:ext>
            </a:extLst>
          </p:cNvPr>
          <p:cNvSpPr txBox="1"/>
          <p:nvPr/>
        </p:nvSpPr>
        <p:spPr>
          <a:xfrm>
            <a:off x="6297816" y="155830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117/2025 - PROJ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416EA988-49A2-C5FE-5961-8B56463557E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5266363-D575-9BC1-C352-7C97ADF592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40292FB-24FA-E054-38F5-13BCD343EDA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768CE33-A2CF-5D19-F3F5-1B68F507841A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BBDF512-2C55-B3E7-298B-29A3A897EAD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658282A8-9023-63F2-FE45-AAC5DCC9F071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18771FED-1D16-9053-D389-686349CF7AE4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8" name="Group 17">
            <a:extLst>
              <a:ext uri="{FF2B5EF4-FFF2-40B4-BE49-F238E27FC236}">
                <a16:creationId xmlns:a16="http://schemas.microsoft.com/office/drawing/2014/main" id="{59800BF8-F5BB-322C-4407-24D69538D6EF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1FBD052C-1292-FC00-44E5-E95C4870D9F7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10" name="TextBox 19">
            <a:extLst>
              <a:ext uri="{FF2B5EF4-FFF2-40B4-BE49-F238E27FC236}">
                <a16:creationId xmlns:a16="http://schemas.microsoft.com/office/drawing/2014/main" id="{CC6D8B65-6C95-16A9-4D50-49CF6E930334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GMK - PROJ</a:t>
            </a:r>
          </a:p>
        </p:txBody>
      </p:sp>
    </p:spTree>
    <p:extLst>
      <p:ext uri="{BB962C8B-B14F-4D97-AF65-F5344CB8AC3E}">
        <p14:creationId xmlns:p14="http://schemas.microsoft.com/office/powerpoint/2010/main" val="372321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2EE6-80A1-26FB-53D8-A270B608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29F8497-CE7A-FF27-FFB1-79AC13AFB3EF}"/>
              </a:ext>
            </a:extLst>
          </p:cNvPr>
          <p:cNvSpPr txBox="1"/>
          <p:nvPr/>
        </p:nvSpPr>
        <p:spPr>
          <a:xfrm>
            <a:off x="3784136" y="2874435"/>
            <a:ext cx="7981143" cy="5486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elaboração de projetos executivos para obras de arte correntes e especiais para o território Kalunga, no nordeste do estado de Goiás (lote 03).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16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28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Extrema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29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Pé de Serra Raizama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30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Raizama de </a:t>
            </a:r>
            <a:r>
              <a:rPr lang="pt-BR" dirty="0" err="1">
                <a:latin typeface="Gotham" panose="020B0604020202020204"/>
              </a:rPr>
              <a:t>Eudetrudes</a:t>
            </a:r>
            <a:r>
              <a:rPr lang="pt-BR" dirty="0">
                <a:latin typeface="Gotham" panose="020B0604020202020204"/>
              </a:rPr>
              <a:t> 1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31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Raizama de </a:t>
            </a:r>
            <a:r>
              <a:rPr lang="pt-BR" dirty="0" err="1">
                <a:latin typeface="Gotham" panose="020B0604020202020204"/>
              </a:rPr>
              <a:t>Eudetrudes</a:t>
            </a:r>
            <a:r>
              <a:rPr lang="pt-BR" dirty="0">
                <a:latin typeface="Gotham" panose="020B0604020202020204"/>
              </a:rPr>
              <a:t> 2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32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Mocó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33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Língua de </a:t>
            </a:r>
            <a:r>
              <a:rPr lang="pt-BR" dirty="0" err="1">
                <a:latin typeface="Gotham" panose="020B0604020202020204"/>
              </a:rPr>
              <a:t>Tucuno</a:t>
            </a:r>
            <a:r>
              <a:rPr lang="pt-BR" dirty="0">
                <a:latin typeface="Gotham" panose="020B0604020202020204"/>
              </a:rPr>
              <a:t> 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34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Boa Vista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35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Buriti 2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R$ 752.434,82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49,7%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315ACA0-0D8C-E347-36B7-0D562B830280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FF4D2C8-F5D8-3A1B-2DBC-A21C9B026C7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5DB22A90-3C8B-FBE5-D05F-A4C405DE1604}"/>
              </a:ext>
            </a:extLst>
          </p:cNvPr>
          <p:cNvSpPr txBox="1"/>
          <p:nvPr/>
        </p:nvSpPr>
        <p:spPr>
          <a:xfrm>
            <a:off x="6297816" y="155830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116/2025 - PROJ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5C3796D-94A3-B10D-DD2E-00AA448276F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64F385B-E066-13FC-E131-36029E2258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A1DC110-FEA0-9018-4458-7FE260220A2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43EE54-1B6C-C832-51DD-B1125E84D6D5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C4BA9B-26E3-1D39-4EEB-8CF3156F5CDC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0CF7C674-067C-16DF-7A43-32D3B7100C86}"/>
              </a:ext>
            </a:extLst>
          </p:cNvPr>
          <p:cNvSpPr txBox="1"/>
          <p:nvPr/>
        </p:nvSpPr>
        <p:spPr>
          <a:xfrm>
            <a:off x="8831755" y="4851746"/>
            <a:ext cx="7981143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36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Buriti 1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37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Espinho de Agulha 4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38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Espinho de Agulha 3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39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Espinho de Agulha 2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40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Espinho de Agulha 1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41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Barro Branco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42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Laranjeiras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43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 err="1">
                <a:latin typeface="Gotham" panose="020B0604020202020204"/>
              </a:rPr>
              <a:t>Capoa</a:t>
            </a:r>
            <a:r>
              <a:rPr lang="pt-BR" dirty="0">
                <a:latin typeface="Gotham" panose="020B0604020202020204"/>
              </a:rPr>
              <a:t> Vão de Alma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81441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0D25-D421-9262-FC93-18CF2C2F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F694A55-0C50-8FE1-5F91-72F064F77D69}"/>
              </a:ext>
            </a:extLst>
          </p:cNvPr>
          <p:cNvSpPr txBox="1"/>
          <p:nvPr/>
        </p:nvSpPr>
        <p:spPr>
          <a:xfrm>
            <a:off x="3784136" y="2874435"/>
            <a:ext cx="7981143" cy="5486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elaboração de projetos executivos para obras de arte correntes e especiais para o território Kalunga, no nordeste do estado de Goiás (lote 04).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13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44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Boa Vista 2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45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Grota do Pulo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46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Morro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47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 err="1">
                <a:latin typeface="Gotham" panose="020B0604020202020204"/>
              </a:rPr>
              <a:t>Córego</a:t>
            </a:r>
            <a:r>
              <a:rPr lang="pt-BR" dirty="0">
                <a:latin typeface="Gotham" panose="020B0604020202020204"/>
              </a:rPr>
              <a:t> do Morro 1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48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 err="1">
                <a:latin typeface="Gotham" panose="020B0604020202020204"/>
              </a:rPr>
              <a:t>Córego</a:t>
            </a:r>
            <a:r>
              <a:rPr lang="pt-BR" dirty="0">
                <a:latin typeface="Gotham" panose="020B0604020202020204"/>
              </a:rPr>
              <a:t> do Morro 2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49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 err="1">
                <a:latin typeface="Gotham" panose="020B0604020202020204"/>
              </a:rPr>
              <a:t>Córego</a:t>
            </a:r>
            <a:r>
              <a:rPr lang="pt-BR" dirty="0">
                <a:latin typeface="Gotham" panose="020B0604020202020204"/>
              </a:rPr>
              <a:t> do Morro 3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50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 err="1">
                <a:latin typeface="Gotham" panose="020B0604020202020204"/>
              </a:rPr>
              <a:t>Córego</a:t>
            </a:r>
            <a:r>
              <a:rPr lang="pt-BR" dirty="0">
                <a:latin typeface="Gotham" panose="020B0604020202020204"/>
              </a:rPr>
              <a:t> do Morro 4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51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Coco 1 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R$ 639.309,42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48,9%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D5869F2-501D-E409-9684-E4B8CED290D3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1B6CE41-B7BA-1F96-86FA-AF3B74651B6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37AB8C41-C7B8-AE12-A95F-A5DB340490B2}"/>
              </a:ext>
            </a:extLst>
          </p:cNvPr>
          <p:cNvSpPr txBox="1"/>
          <p:nvPr/>
        </p:nvSpPr>
        <p:spPr>
          <a:xfrm>
            <a:off x="6297816" y="155830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118/2025 - PROJ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368EDAF4-7377-5CD9-BFCC-065C8181B67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3A0F82E-B012-18CD-CD68-70FD004199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5438742-112B-577A-D1E8-6072915CB67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6D9A615-E848-71B1-64AC-E0C763F3D9B0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ACBFE55-6EEC-6C12-966D-56CEBEDBEB1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F411908-C87D-1875-9110-908D2CF0D8D5}"/>
              </a:ext>
            </a:extLst>
          </p:cNvPr>
          <p:cNvSpPr txBox="1"/>
          <p:nvPr/>
        </p:nvSpPr>
        <p:spPr>
          <a:xfrm>
            <a:off x="7923596" y="4851746"/>
            <a:ext cx="798114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52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Coco 2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53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Coco 3 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54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Coco 4 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55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Fazenda Velha 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56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Lagoa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425943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6D50-6F64-1F24-DEC7-E6AC834A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C023EDD-ECC5-98B9-2C71-BD47F9C68C6F}"/>
              </a:ext>
            </a:extLst>
          </p:cNvPr>
          <p:cNvSpPr txBox="1"/>
          <p:nvPr/>
        </p:nvSpPr>
        <p:spPr>
          <a:xfrm>
            <a:off x="3784136" y="2874435"/>
            <a:ext cx="7981143" cy="5209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elaboração de projetos executivos para obras de arte correntes e especiais para o território Kalunga, no nordeste do estado de Goiás (lote 05).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PONTOS: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57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Lageado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58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Zé Nivaldo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59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 err="1">
                <a:latin typeface="Gotham" panose="020B0604020202020204"/>
              </a:rPr>
              <a:t>Valdesi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A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Passagem Rio Bartolomeu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B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Bueiro Vereda 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C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Bueiro para Manutenção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Ponto D</a:t>
            </a:r>
            <a:r>
              <a:rPr lang="pt-BR" dirty="0">
                <a:solidFill>
                  <a:srgbClr val="3C3C3C"/>
                </a:solidFill>
                <a:latin typeface="Gotham" panose="020B0604020202020204"/>
                <a:ea typeface="Gotham" panose="020B0604020202020204"/>
                <a:cs typeface="Gotham" panose="020B0604020202020204"/>
                <a:sym typeface="Gotham"/>
              </a:rPr>
              <a:t>: </a:t>
            </a:r>
            <a:r>
              <a:rPr lang="pt-BR" dirty="0">
                <a:latin typeface="Gotham" panose="020B0604020202020204"/>
              </a:rPr>
              <a:t>Ponte para Manutenção</a:t>
            </a:r>
            <a:endParaRPr lang="pt-BR" dirty="0">
              <a:solidFill>
                <a:srgbClr val="3C3C3C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R$ 430.828,67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45,6%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31BEC80-EE11-CAD7-41EC-C2B8D54DB758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BBF4101-83FF-DDE9-FF49-2D80F739DA5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C8C27EA-03BB-1893-46D2-15C88F76CEBA}"/>
              </a:ext>
            </a:extLst>
          </p:cNvPr>
          <p:cNvSpPr txBox="1"/>
          <p:nvPr/>
        </p:nvSpPr>
        <p:spPr>
          <a:xfrm>
            <a:off x="6297816" y="1558309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119/2025 - PROJ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9EDD9C9-E036-1440-6578-B4ABEA1A8CF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C22657D-1420-6E8C-9B49-7D93D328A6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3DE4819-9692-AF2C-5267-9666064B701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D998EBD-3A44-D39B-0363-ACF54398FA4D}"/>
              </a:ext>
            </a:extLst>
          </p:cNvPr>
          <p:cNvSpPr txBox="1"/>
          <p:nvPr/>
        </p:nvSpPr>
        <p:spPr>
          <a:xfrm>
            <a:off x="-189350" y="8141378"/>
            <a:ext cx="2391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C1C7128-4C9C-0342-1A2E-32B058BC2DD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13481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975-F17D-13EA-D0E2-4DD1D065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CB943A0-F0FC-A9EF-7136-4A4EE8F892C2}"/>
              </a:ext>
            </a:extLst>
          </p:cNvPr>
          <p:cNvSpPr txBox="1"/>
          <p:nvPr/>
        </p:nvSpPr>
        <p:spPr>
          <a:xfrm>
            <a:off x="3784136" y="2874435"/>
            <a:ext cx="7981143" cy="4101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Locação de máquinas e de veículos, com fornecimento de operadores, motoristas, manutenção e combustível, a serem disponibilizados para atendimento das demandas na região dos </a:t>
            </a:r>
            <a:r>
              <a:rPr lang="pt-BR" dirty="0" err="1">
                <a:latin typeface="Gotham" panose="020B0604020202020204"/>
              </a:rPr>
              <a:t>Kalungas</a:t>
            </a:r>
            <a:r>
              <a:rPr lang="pt-BR" dirty="0">
                <a:latin typeface="Gotham" panose="020B0604020202020204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MUNICÍPIOS: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Cavalcante, Teresina de Goiás e Monte Alegre de Goiás.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R$ 30.564.905,75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9 comunidades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45,1%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53DE738-D803-918A-0E4F-CA6E3299F62A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FAA9779-DAD4-2B71-BF5F-AE25C365A67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8230E71-93BE-53CF-F79F-50D1E6072798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78/2025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D661BFF-DE85-4242-4991-F8B8612B5604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7CCA1672-96A3-986A-7835-AF00F4A95149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AAD886D-0FDF-E361-38C8-D49070F8BDA5}"/>
              </a:ext>
            </a:extLst>
          </p:cNvPr>
          <p:cNvSpPr txBox="1"/>
          <p:nvPr/>
        </p:nvSpPr>
        <p:spPr>
          <a:xfrm>
            <a:off x="4082804" y="83698"/>
            <a:ext cx="13669413" cy="56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GMPK</a:t>
            </a: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B9913C1A-EB07-B6DE-A4C6-09DB4AC945F3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B92E098-89CE-413F-314E-C965EF6C3CD3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1A52A7AE-6112-9DC6-92A4-790A7944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CFB5A630-7B51-A0DC-8A79-D12E68F312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939FC5B-BF7C-C4FE-2EA8-728A2A4D68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8953889C-C7C5-9AF3-B5A9-6921E7D97A3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9C89664-D38A-044A-5FFB-6A69617BDA7B}"/>
              </a:ext>
            </a:extLst>
          </p:cNvPr>
          <p:cNvSpPr txBox="1"/>
          <p:nvPr/>
        </p:nvSpPr>
        <p:spPr>
          <a:xfrm>
            <a:off x="-189350" y="8141378"/>
            <a:ext cx="2391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GMPK 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GOIÁS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EM MOVIMENTO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PATRULHA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KALUNGAS </a:t>
            </a:r>
          </a:p>
          <a:p>
            <a:pPr algn="ctr"/>
            <a:endParaRPr lang="it-IT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531161C-5306-E65E-E900-CE2AB88764F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87498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Props1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22255</TotalTime>
  <Words>1130</Words>
  <Application>Microsoft Office PowerPoint</Application>
  <PresentationFormat>Personalizar</PresentationFormat>
  <Paragraphs>212</Paragraphs>
  <Slides>10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89</cp:revision>
  <dcterms:created xsi:type="dcterms:W3CDTF">2006-08-16T00:00:00Z</dcterms:created>
  <dcterms:modified xsi:type="dcterms:W3CDTF">2026-07-21T17:44:03Z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