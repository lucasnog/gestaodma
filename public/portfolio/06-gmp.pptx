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8"/>
  </p:notesMasterIdLst>
  <p:sldIdLst>
    <p:sldId id="436" r:id="rId5"/>
    <p:sldId id="621" r:id="rId6"/>
    <p:sldId id="622" r:id="rId7"/>
    <p:sldId id="623" r:id="rId8"/>
    <p:sldId id="624" r:id="rId9"/>
    <p:sldId id="625" r:id="rId10"/>
    <p:sldId id="626" r:id="rId11"/>
    <p:sldId id="627" r:id="rId12"/>
    <p:sldId id="628" r:id="rId13"/>
    <p:sldId id="629" r:id="rId14"/>
    <p:sldId id="635" r:id="rId15"/>
    <p:sldId id="630" r:id="rId16"/>
    <p:sldId id="634" r:id="rId17"/>
  </p:sldIdLst>
  <p:sldSz cx="18288000" cy="10287000"/>
  <p:notesSz cx="6858000" cy="9144000"/>
  <p:embeddedFontLst>
    <p:embeddedFont>
      <p:font typeface="Gotham" panose="020B0604020202020204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BC6EF66-34DA-78DB-57DB-17AF9972CEA8}" name="Rodolfo Parussoli" initials="RP" userId="S::rodolfo.parussoli@fornecedores.goias.gov.br::c7faa30e-8fea-4bad-a83c-cea8df40b9da" providerId="AD"/>
  <p188:author id="{B7E27BBE-CB66-0453-943D-A2AB23FD2EB4}" name="Lucas Nogueira Lopes" initials="LN" userId="S::lucas.nlopes@fornecedores.goias.gov.br::b4794c58-b96d-4e49-8f1f-2dabfe8a9e6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51819-0692-F995-324F-5BE221F9F28A}" v="4" dt="2026-08-14T17:18:42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4660"/>
  </p:normalViewPr>
  <p:slideViewPr>
    <p:cSldViewPr snapToGrid="0">
      <p:cViewPr varScale="1">
        <p:scale>
          <a:sx n="63" d="100"/>
          <a:sy n="63" d="100"/>
        </p:scale>
        <p:origin x="132" y="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microsoft.com/office/2015/10/relationships/revisionInfo" Target="revisionInfo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olfo Parussoli" userId="c7faa30e-8fea-4bad-a83c-cea8df40b9da" providerId="ADAL" clId="{E1647156-5E49-4622-8F27-0D63BDF71F2D}"/>
    <pc:docChg chg="modSld">
      <pc:chgData name="Rodolfo Parussoli" userId="c7faa30e-8fea-4bad-a83c-cea8df40b9da" providerId="ADAL" clId="{E1647156-5E49-4622-8F27-0D63BDF71F2D}" dt="2026-08-07T13:31:43.041" v="17" actId="6549"/>
      <pc:docMkLst>
        <pc:docMk/>
      </pc:docMkLst>
      <pc:sldChg chg="modSp mod">
        <pc:chgData name="Rodolfo Parussoli" userId="c7faa30e-8fea-4bad-a83c-cea8df40b9da" providerId="ADAL" clId="{E1647156-5E49-4622-8F27-0D63BDF71F2D}" dt="2026-08-07T13:31:27.361" v="15" actId="20577"/>
        <pc:sldMkLst>
          <pc:docMk/>
          <pc:sldMk cId="2662032326" sldId="623"/>
        </pc:sldMkLst>
        <pc:spChg chg="mod">
          <ac:chgData name="Rodolfo Parussoli" userId="c7faa30e-8fea-4bad-a83c-cea8df40b9da" providerId="ADAL" clId="{E1647156-5E49-4622-8F27-0D63BDF71F2D}" dt="2026-08-07T13:31:27.361" v="15" actId="20577"/>
          <ac:spMkLst>
            <pc:docMk/>
            <pc:sldMk cId="2662032326" sldId="623"/>
            <ac:spMk id="5" creationId="{D2738C11-ABB0-5A37-19BE-372096A1BB71}"/>
          </ac:spMkLst>
        </pc:spChg>
      </pc:sldChg>
      <pc:sldChg chg="modSp mod">
        <pc:chgData name="Rodolfo Parussoli" userId="c7faa30e-8fea-4bad-a83c-cea8df40b9da" providerId="ADAL" clId="{E1647156-5E49-4622-8F27-0D63BDF71F2D}" dt="2026-08-07T13:31:43.041" v="17" actId="6549"/>
        <pc:sldMkLst>
          <pc:docMk/>
          <pc:sldMk cId="2561058354" sldId="629"/>
        </pc:sldMkLst>
        <pc:spChg chg="mod">
          <ac:chgData name="Rodolfo Parussoli" userId="c7faa30e-8fea-4bad-a83c-cea8df40b9da" providerId="ADAL" clId="{E1647156-5E49-4622-8F27-0D63BDF71F2D}" dt="2026-08-07T13:31:43.041" v="17" actId="6549"/>
          <ac:spMkLst>
            <pc:docMk/>
            <pc:sldMk cId="2561058354" sldId="629"/>
            <ac:spMk id="5" creationId="{EBFA7383-858E-0EF1-FF7A-DCEA6D53432F}"/>
          </ac:spMkLst>
        </pc:spChg>
      </pc:sldChg>
    </pc:docChg>
  </pc:docChgLst>
  <pc:docChgLst>
    <pc:chgData name="Lucas Nogueira Lopes" userId="b4794c58-b96d-4e49-8f1f-2dabfe8a9e6e" providerId="ADAL" clId="{816383E1-CDCA-4CC2-B79A-A3F515FC65D6}"/>
    <pc:docChg chg="modSld">
      <pc:chgData name="Lucas Nogueira Lopes" userId="b4794c58-b96d-4e49-8f1f-2dabfe8a9e6e" providerId="ADAL" clId="{816383E1-CDCA-4CC2-B79A-A3F515FC65D6}" dt="2026-07-22T12:50:07.674" v="3" actId="20577"/>
      <pc:docMkLst>
        <pc:docMk/>
      </pc:docMkLst>
      <pc:sldChg chg="modSp mod">
        <pc:chgData name="Lucas Nogueira Lopes" userId="b4794c58-b96d-4e49-8f1f-2dabfe8a9e6e" providerId="ADAL" clId="{816383E1-CDCA-4CC2-B79A-A3F515FC65D6}" dt="2026-07-22T12:50:01.341" v="1" actId="20577"/>
        <pc:sldMkLst>
          <pc:docMk/>
          <pc:sldMk cId="1728673279" sldId="628"/>
        </pc:sldMkLst>
        <pc:spChg chg="mod">
          <ac:chgData name="Lucas Nogueira Lopes" userId="b4794c58-b96d-4e49-8f1f-2dabfe8a9e6e" providerId="ADAL" clId="{816383E1-CDCA-4CC2-B79A-A3F515FC65D6}" dt="2026-07-22T12:50:01.341" v="1" actId="20577"/>
          <ac:spMkLst>
            <pc:docMk/>
            <pc:sldMk cId="1728673279" sldId="628"/>
            <ac:spMk id="5" creationId="{E40744CE-799D-AC44-CF76-D841A2785427}"/>
          </ac:spMkLst>
        </pc:spChg>
      </pc:sldChg>
      <pc:sldChg chg="modSp mod">
        <pc:chgData name="Lucas Nogueira Lopes" userId="b4794c58-b96d-4e49-8f1f-2dabfe8a9e6e" providerId="ADAL" clId="{816383E1-CDCA-4CC2-B79A-A3F515FC65D6}" dt="2026-07-22T12:50:07.674" v="3" actId="20577"/>
        <pc:sldMkLst>
          <pc:docMk/>
          <pc:sldMk cId="2823456624" sldId="634"/>
        </pc:sldMkLst>
        <pc:spChg chg="mod">
          <ac:chgData name="Lucas Nogueira Lopes" userId="b4794c58-b96d-4e49-8f1f-2dabfe8a9e6e" providerId="ADAL" clId="{816383E1-CDCA-4CC2-B79A-A3F515FC65D6}" dt="2026-07-22T12:50:07.674" v="3" actId="20577"/>
          <ac:spMkLst>
            <pc:docMk/>
            <pc:sldMk cId="2823456624" sldId="634"/>
            <ac:spMk id="5" creationId="{DBD31BA0-9809-29EA-05E4-88552B492353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1F398-1C75-15D5-2F06-A04006E6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5A1839-B786-B11E-7B8D-0F829C82E7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9CB97-4373-F430-50F4-050412B56E6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7BB650A-4D9D-C794-868F-128650C124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97A85CB-6BEC-C1C3-4396-FE386DEE59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D0AF2-65EC-0BE2-FFE1-017FCAD3F8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16A2E-C9F8-5D1F-CD09-182FE9D0B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758951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DE05-04A1-705D-D43C-256D7FA69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11211AE8-3E64-4822-87B6-52A058CCF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32" b="19262"/>
          <a:stretch>
            <a:fillRect/>
          </a:stretch>
        </p:blipFill>
        <p:spPr>
          <a:xfrm>
            <a:off x="-6572825" y="-1011"/>
            <a:ext cx="13077683" cy="10328930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65BE67F6-0285-A3DC-A2A6-B5AB102640C7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-5" r="-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AC1723C-DC56-37AF-2332-45AE73C72BA5}"/>
              </a:ext>
            </a:extLst>
          </p:cNvPr>
          <p:cNvGrpSpPr/>
          <p:nvPr/>
        </p:nvGrpSpPr>
        <p:grpSpPr>
          <a:xfrm>
            <a:off x="5161504" y="0"/>
            <a:ext cx="13125450" cy="10287000"/>
            <a:chOff x="0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598F59-48F2-F8F5-F0A7-370E6004EB44}"/>
                </a:ext>
              </a:extLst>
            </p:cNvPr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83304E6-2618-4406-85AE-7D61C791543F}"/>
              </a:ext>
            </a:extLst>
          </p:cNvPr>
          <p:cNvSpPr txBox="1"/>
          <p:nvPr/>
        </p:nvSpPr>
        <p:spPr>
          <a:xfrm>
            <a:off x="6473497" y="3729055"/>
            <a:ext cx="6433033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GMP - GOIÁS EM MOVIMENTO - PATRULHAS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2C13DAF-B53F-08A8-61FA-8567D34D1465}"/>
              </a:ext>
            </a:extLst>
          </p:cNvPr>
          <p:cNvSpPr txBox="1"/>
          <p:nvPr/>
        </p:nvSpPr>
        <p:spPr>
          <a:xfrm>
            <a:off x="6199158" y="-320038"/>
            <a:ext cx="5327157" cy="4603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 dirty="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6.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2988CB83-A36D-8C43-626D-0C0B4A436397}"/>
              </a:ext>
            </a:extLst>
          </p:cNvPr>
          <p:cNvGrpSpPr/>
          <p:nvPr/>
        </p:nvGrpSpPr>
        <p:grpSpPr>
          <a:xfrm>
            <a:off x="7406883" y="5829710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D8C52B04-63B1-40C0-D5AD-98006DA207C3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E0C728B8-39EA-EE30-052E-241105BD353E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grpSp>
        <p:nvGrpSpPr>
          <p:cNvPr id="19" name="Group 9">
            <a:extLst>
              <a:ext uri="{FF2B5EF4-FFF2-40B4-BE49-F238E27FC236}">
                <a16:creationId xmlns:a16="http://schemas.microsoft.com/office/drawing/2014/main" id="{CAAF7AA1-8D85-D641-67F1-FED2292DF05B}"/>
              </a:ext>
            </a:extLst>
          </p:cNvPr>
          <p:cNvGrpSpPr/>
          <p:nvPr/>
        </p:nvGrpSpPr>
        <p:grpSpPr>
          <a:xfrm>
            <a:off x="10610517" y="5829709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7F9BF5C-08EC-D351-759C-FBDFE0502FC3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34AEFF69-E129-0E4E-EE4E-AE73310234A6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2" name="TextBox 26">
            <a:extLst>
              <a:ext uri="{FF2B5EF4-FFF2-40B4-BE49-F238E27FC236}">
                <a16:creationId xmlns:a16="http://schemas.microsoft.com/office/drawing/2014/main" id="{3B4BBB0E-624B-4DF6-491C-1B93A028D90D}"/>
              </a:ext>
            </a:extLst>
          </p:cNvPr>
          <p:cNvSpPr txBox="1"/>
          <p:nvPr/>
        </p:nvSpPr>
        <p:spPr>
          <a:xfrm>
            <a:off x="10793798" y="6977723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6BAA1941-F2E6-C3E1-DA42-4495A5788183}"/>
              </a:ext>
            </a:extLst>
          </p:cNvPr>
          <p:cNvGrpSpPr/>
          <p:nvPr/>
        </p:nvGrpSpPr>
        <p:grpSpPr>
          <a:xfrm>
            <a:off x="13814151" y="5829709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2B1851F6-8ABB-131D-53D7-690E806DCD98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EB4B1983-0F8C-F8BC-6999-5BD659B74DFA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EE938EFD-04AE-E140-F581-115CD20E926F}"/>
              </a:ext>
            </a:extLst>
          </p:cNvPr>
          <p:cNvSpPr txBox="1"/>
          <p:nvPr/>
        </p:nvSpPr>
        <p:spPr>
          <a:xfrm>
            <a:off x="13997432" y="6796317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BD7F7A3-6BC0-9512-037A-C42ACFCEE1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E44AE023-825A-A81A-AACA-35AA8F41CB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5375" y="-41934"/>
            <a:ext cx="6809463" cy="3822003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11C85F48-48E8-1C6F-B321-80871E2FB46C}"/>
              </a:ext>
            </a:extLst>
          </p:cNvPr>
          <p:cNvSpPr txBox="1"/>
          <p:nvPr/>
        </p:nvSpPr>
        <p:spPr>
          <a:xfrm>
            <a:off x="7577882" y="7029349"/>
            <a:ext cx="2470678" cy="629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2.995.920 HORAS CONTRATADAS</a:t>
            </a:r>
            <a:endParaRPr lang="en-US" sz="1800" b="1" dirty="0">
              <a:solidFill>
                <a:schemeClr val="bg1"/>
              </a:solidFill>
              <a:highlight>
                <a:srgbClr val="FF0000"/>
              </a:highlight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0584312-2560-1347-D54D-C818F8154F13}"/>
              </a:ext>
            </a:extLst>
          </p:cNvPr>
          <p:cNvSpPr txBox="1"/>
          <p:nvPr/>
        </p:nvSpPr>
        <p:spPr>
          <a:xfrm>
            <a:off x="10714439" y="7022392"/>
            <a:ext cx="2629396" cy="6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1" dirty="0">
                <a:solidFill>
                  <a:schemeClr val="bg1"/>
                </a:solidFill>
                <a:latin typeface="Gotham"/>
                <a:sym typeface="Gotham"/>
              </a:rPr>
              <a:t>320 </a:t>
            </a:r>
            <a:r>
              <a:rPr lang="pt-BR" b="1" dirty="0">
                <a:solidFill>
                  <a:schemeClr val="bg1"/>
                </a:solidFill>
                <a:latin typeface="Gotham"/>
              </a:rPr>
              <a:t>MÁQUINAS MOBILIZADAS</a:t>
            </a:r>
            <a:endParaRPr lang="en-US" b="1" dirty="0">
              <a:solidFill>
                <a:schemeClr val="bg1"/>
              </a:solidFill>
              <a:latin typeface="Gotham"/>
              <a:sym typeface="Gotham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F7118FE-CF1D-A129-BD21-E1416D597100}"/>
              </a:ext>
            </a:extLst>
          </p:cNvPr>
          <p:cNvSpPr txBox="1"/>
          <p:nvPr/>
        </p:nvSpPr>
        <p:spPr>
          <a:xfrm>
            <a:off x="13995012" y="6850938"/>
            <a:ext cx="2450953" cy="9115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</a:t>
            </a:r>
            <a:r>
              <a:rPr lang="pt-BR" b="1" dirty="0">
                <a:solidFill>
                  <a:schemeClr val="bg1"/>
                </a:solidFill>
                <a:latin typeface="Gotham"/>
                <a:sym typeface="Gotham"/>
              </a:rPr>
              <a:t>CONTRATADO:</a:t>
            </a: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</a:rPr>
              <a:t>R$ 527.538.932,37</a:t>
            </a:r>
          </a:p>
        </p:txBody>
      </p:sp>
    </p:spTree>
    <p:extLst>
      <p:ext uri="{BB962C8B-B14F-4D97-AF65-F5344CB8AC3E}">
        <p14:creationId xmlns:p14="http://schemas.microsoft.com/office/powerpoint/2010/main" val="416771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B4F82-2DD6-B395-425E-AC107B17B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5529387-7745-36EC-EF22-BABF38E0D1AA}"/>
              </a:ext>
            </a:extLst>
          </p:cNvPr>
          <p:cNvSpPr txBox="1"/>
          <p:nvPr/>
        </p:nvSpPr>
        <p:spPr>
          <a:xfrm>
            <a:off x="3784136" y="2874435"/>
            <a:ext cx="7981143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Serviços de locação de máquinas e veículos, com fornecimento de operadores, motoristas, manutenção e combustível.</a:t>
            </a:r>
            <a:endParaRPr lang="pt-BR" b="1" dirty="0">
              <a:solidFill>
                <a:srgbClr val="3C3C3C"/>
              </a:solidFill>
              <a:latin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R$ 83.807.859,98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28 unidades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362.880,00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86,7%</a:t>
            </a:r>
            <a:endParaRPr lang="pt-BR" dirty="0">
              <a:solidFill>
                <a:srgbClr val="3C3C3C"/>
              </a:solidFill>
              <a:latin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2E87333-4F76-6649-B93A-AEDBC1DE4A58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A47F8FF3-03BD-8ECC-5828-0FC0AC425F6C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1733298-1BCD-67E4-2802-FFC3B093E2DE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185/2021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1B5DD74-6E58-484E-9F3A-931AFA03E376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90C6ABDB-020D-43C5-5353-985BA12A6D19}"/>
              </a:ext>
            </a:extLst>
          </p:cNvPr>
          <p:cNvSpPr/>
          <p:nvPr/>
        </p:nvSpPr>
        <p:spPr>
          <a:xfrm>
            <a:off x="3477574" y="13290"/>
            <a:ext cx="13140652" cy="907256"/>
          </a:xfrm>
          <a:custGeom>
            <a:avLst/>
            <a:gdLst/>
            <a:ahLst/>
            <a:cxnLst/>
            <a:rect l="l" t="t" r="r" b="b"/>
            <a:pathLst>
              <a:path w="4908550" h="1209675">
                <a:moveTo>
                  <a:pt x="4305681" y="1209675"/>
                </a:moveTo>
                <a:cubicBezTo>
                  <a:pt x="0" y="1209675"/>
                  <a:pt x="0" y="1209675"/>
                  <a:pt x="0" y="1209675"/>
                </a:cubicBezTo>
                <a:cubicBezTo>
                  <a:pt x="0" y="0"/>
                  <a:pt x="0" y="0"/>
                  <a:pt x="0" y="0"/>
                </a:cubicBezTo>
                <a:cubicBezTo>
                  <a:pt x="4305681" y="0"/>
                  <a:pt x="4305681" y="0"/>
                  <a:pt x="4305681" y="0"/>
                </a:cubicBezTo>
                <a:cubicBezTo>
                  <a:pt x="4638802" y="0"/>
                  <a:pt x="4908550" y="269875"/>
                  <a:pt x="4908550" y="603250"/>
                </a:cubicBezTo>
                <a:cubicBezTo>
                  <a:pt x="4908550" y="1209675"/>
                  <a:pt x="4908550" y="1209675"/>
                  <a:pt x="4908550" y="1209675"/>
                </a:cubicBezTo>
                <a:lnTo>
                  <a:pt x="4305681" y="1209675"/>
                </a:lnTo>
                <a:close/>
              </a:path>
            </a:pathLst>
          </a:custGeom>
          <a:solidFill>
            <a:srgbClr val="0E9E3C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192710B-97B7-A579-5B1D-0C355BF4D74F}"/>
              </a:ext>
            </a:extLst>
          </p:cNvPr>
          <p:cNvSpPr txBox="1"/>
          <p:nvPr/>
        </p:nvSpPr>
        <p:spPr>
          <a:xfrm>
            <a:off x="4082804" y="83698"/>
            <a:ext cx="13669413" cy="56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– GMP ETAPA I</a:t>
            </a:r>
          </a:p>
        </p:txBody>
      </p:sp>
      <p:grpSp>
        <p:nvGrpSpPr>
          <p:cNvPr id="23" name="Group 17">
            <a:extLst>
              <a:ext uri="{FF2B5EF4-FFF2-40B4-BE49-F238E27FC236}">
                <a16:creationId xmlns:a16="http://schemas.microsoft.com/office/drawing/2014/main" id="{E27879FE-42D9-09CA-3EB6-8BA6D6670675}"/>
              </a:ext>
            </a:extLst>
          </p:cNvPr>
          <p:cNvGrpSpPr/>
          <p:nvPr/>
        </p:nvGrpSpPr>
        <p:grpSpPr>
          <a:xfrm>
            <a:off x="3039017" y="13289"/>
            <a:ext cx="904875" cy="907257"/>
            <a:chOff x="0" y="0"/>
            <a:chExt cx="1206500" cy="1209676"/>
          </a:xfrm>
        </p:grpSpPr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B9157B1-860E-9D0B-BAB4-7BB92F0FFAD4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5" name="Imagem 24">
            <a:extLst>
              <a:ext uri="{FF2B5EF4-FFF2-40B4-BE49-F238E27FC236}">
                <a16:creationId xmlns:a16="http://schemas.microsoft.com/office/drawing/2014/main" id="{7954DCD2-8DA8-C4F2-F72C-3B6D92090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8D57198A-39C2-FB5D-BE5D-23DA8E03F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7" r="26887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FE89168-5594-8168-DCA6-1B3319F603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9C3230D2-B046-3252-9697-EBE760B1A84D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70A3CA6-79FD-DEED-E62E-B468D3B605ED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6603832-BD86-43E9-7015-2CD849649A94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884771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169DD-12F3-BF4C-A70B-4FB637EC3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40D6E2CA-2A6F-FCAD-5E7C-C728CD5D22CC}"/>
              </a:ext>
            </a:extLst>
          </p:cNvPr>
          <p:cNvSpPr txBox="1"/>
          <p:nvPr/>
        </p:nvSpPr>
        <p:spPr>
          <a:xfrm>
            <a:off x="3784136" y="2874435"/>
            <a:ext cx="7981143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Serviços de locação de máquinas e veículos, com fornecimento de operadores, motoristas, manutenção e combustível.</a:t>
            </a:r>
            <a:endParaRPr lang="pt-BR" dirty="0">
              <a:solidFill>
                <a:srgbClr val="3C3C3C"/>
              </a:solidFill>
              <a:latin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R$ 85.565.108,30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28 unidades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362.880,00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88,4%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E741D4C-26E7-774E-4693-68358C4F636A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7F8333B-068A-31F0-5A24-9532A4BFBDE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ADA60131-D49D-CF28-B770-AAD29C9FBDD2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184/2021 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F898C62E-1AA3-E955-2C16-793ADC7C7E6F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2245B198-2FB2-0391-7D1C-AE3409713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2B301F2D-5A5A-FD25-13FC-CBAD9064D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571ED95-ED47-DBBF-218B-CF3A8D6AB1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3CB7B1D3-DCF3-D95B-1BEC-78E32661B8C5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BB28E42-85BF-B4A6-5B24-21BD03725C5B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0F4AE31-C38D-11F2-E69E-EE9F538107FB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958559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109DD-4C76-0789-F8CF-6FD9CC565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2738C11-ABB0-5A37-19BE-372096A1BB71}"/>
              </a:ext>
            </a:extLst>
          </p:cNvPr>
          <p:cNvSpPr txBox="1"/>
          <p:nvPr/>
        </p:nvSpPr>
        <p:spPr>
          <a:xfrm>
            <a:off x="3784136" y="2874435"/>
            <a:ext cx="7981143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/>
              </a:rPr>
              <a:t>Serviços de locação de máquinas e veículos, com fornecimento de operadores, motoristas, manutenção e combustível</a:t>
            </a:r>
            <a:endParaRPr lang="pt-BR" dirty="0">
              <a:latin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03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R$ 83.501.020,60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28 unidades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362.880,00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Paralisado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81,2%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C13BFD3E-A8F6-C1CE-A3E2-33E0838E0048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096F0984-B3BE-D60C-84C7-809E96F72BB4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E566A32F-4BE3-687F-13F6-5532384F99C8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186/2021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CC506F7D-E953-E208-8BD1-36D9C9990F1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4FDFD903-7FDE-D8F3-B414-98A270A40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20E91D2-5CE1-8474-52B6-1174945A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71EF5C2-568A-F563-FA58-96B79B0C67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54073A70-358D-8BAE-44A7-BFFC5FD37037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A0C0152-54F7-8306-8C8C-6B643EFAFEE1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AED666A-A185-14D1-4077-B19249C27D1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B317C107-E7DC-2432-47F7-15CC97EA5D48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3" name="Freeform 16">
              <a:extLst>
                <a:ext uri="{FF2B5EF4-FFF2-40B4-BE49-F238E27FC236}">
                  <a16:creationId xmlns:a16="http://schemas.microsoft.com/office/drawing/2014/main" id="{0F36ACDB-A011-4DD8-9BA5-EC76598040E5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6" name="TextBox 19">
            <a:extLst>
              <a:ext uri="{FF2B5EF4-FFF2-40B4-BE49-F238E27FC236}">
                <a16:creationId xmlns:a16="http://schemas.microsoft.com/office/drawing/2014/main" id="{4BC0D317-0B94-20A5-9EFE-0FCBA90C554A}"/>
              </a:ext>
            </a:extLst>
          </p:cNvPr>
          <p:cNvSpPr txBox="1"/>
          <p:nvPr/>
        </p:nvSpPr>
        <p:spPr>
          <a:xfrm>
            <a:off x="3235079" y="275171"/>
            <a:ext cx="9147425" cy="47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PARALISADOS – GMP ETAPA I</a:t>
            </a:r>
          </a:p>
        </p:txBody>
      </p:sp>
      <p:grpSp>
        <p:nvGrpSpPr>
          <p:cNvPr id="7" name="Group 17">
            <a:extLst>
              <a:ext uri="{FF2B5EF4-FFF2-40B4-BE49-F238E27FC236}">
                <a16:creationId xmlns:a16="http://schemas.microsoft.com/office/drawing/2014/main" id="{828C2014-7FD2-99AC-3BB7-786112E80C55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CFA6BBC1-0637-9394-EF48-47E51D4E776A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</p:spTree>
    <p:extLst>
      <p:ext uri="{BB962C8B-B14F-4D97-AF65-F5344CB8AC3E}">
        <p14:creationId xmlns:p14="http://schemas.microsoft.com/office/powerpoint/2010/main" val="2662032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E8FA-DE16-47F7-98B5-93E6FEB2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3DD755-ECD0-7C94-3A44-7FABC7F807E0}"/>
              </a:ext>
            </a:extLst>
          </p:cNvPr>
          <p:cNvSpPr txBox="1"/>
          <p:nvPr/>
        </p:nvSpPr>
        <p:spPr>
          <a:xfrm>
            <a:off x="3784136" y="2874435"/>
            <a:ext cx="7981143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/>
              </a:rPr>
              <a:t>Serviços de locação de máquinas e veículos, com fornecimento de operadores, motoristas, manutenção e combustível</a:t>
            </a:r>
            <a:endParaRPr lang="pt-BR" dirty="0">
              <a:latin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04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R$ 84.678.281,88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28 unidades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362.880,00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Paralisado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76,3%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037AE2E-5FD6-3314-21C1-2603B62174DE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9D97C1DB-F5B3-3997-3E28-B528869F0E5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040CB46B-D889-BFB5-5770-09687793F30D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187/2021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6DA4E94-3274-4234-58FB-549FF7837F85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C20F8029-55A8-84D1-737D-B4FFE249F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59E1AA84-A498-3387-4071-DFEF6EEE1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ECEB8C8-881E-E932-CD32-C52EF69CD4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1A321702-D330-5F92-D56A-D2EB1E61536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61B4032-3E14-37CB-F362-E1188204DB89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9595460-78AA-0113-C055-0FBEB51642DA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379583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E027-7847-E149-D17B-8319A7895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9D18DD2-0A0A-AD79-9437-A3952512583F}"/>
              </a:ext>
            </a:extLst>
          </p:cNvPr>
          <p:cNvSpPr txBox="1"/>
          <p:nvPr/>
        </p:nvSpPr>
        <p:spPr>
          <a:xfrm>
            <a:off x="3784136" y="2874435"/>
            <a:ext cx="7981143" cy="4517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OBJETO: </a:t>
            </a:r>
            <a:r>
              <a:rPr lang="pt-BR" dirty="0">
                <a:latin typeface="Gotham" panose="020B0604020202020204"/>
                <a:sym typeface="Gotham"/>
              </a:rPr>
              <a:t>Contratação de empresas especializadas para disponibilização de máquinas e equipamentos pesados, acompanhados do fornecimento de operadores, motoristas, manutenção preventiva e corretiva, bem como o fornecimento de combustível, a serem disponibilizados aos municípios.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LOTE: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03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VALOR DO CONTRATO: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R$ 45.420.619,42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26 unidades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171.600,00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SITUAÇÃO: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ESTÁGIO ATUAL: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1,8%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8FFDE1C-F50E-1D5E-CEAD-65A37F4B45D4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0A1A536B-5036-71BF-4E6B-88DDE034FE0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BC8F463-13AE-3C2C-F3D3-4C0A5B06EB4C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51/2026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DA19A9D2-BFA3-1288-CD2D-DE7C3AF1CBCB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892E4E26-DAF4-5B3C-7916-C404DDEAE58B}"/>
              </a:ext>
            </a:extLst>
          </p:cNvPr>
          <p:cNvSpPr/>
          <p:nvPr/>
        </p:nvSpPr>
        <p:spPr>
          <a:xfrm>
            <a:off x="3477574" y="13290"/>
            <a:ext cx="13140652" cy="907256"/>
          </a:xfrm>
          <a:custGeom>
            <a:avLst/>
            <a:gdLst/>
            <a:ahLst/>
            <a:cxnLst/>
            <a:rect l="l" t="t" r="r" b="b"/>
            <a:pathLst>
              <a:path w="4908550" h="1209675">
                <a:moveTo>
                  <a:pt x="4305681" y="1209675"/>
                </a:moveTo>
                <a:cubicBezTo>
                  <a:pt x="0" y="1209675"/>
                  <a:pt x="0" y="1209675"/>
                  <a:pt x="0" y="1209675"/>
                </a:cubicBezTo>
                <a:cubicBezTo>
                  <a:pt x="0" y="0"/>
                  <a:pt x="0" y="0"/>
                  <a:pt x="0" y="0"/>
                </a:cubicBezTo>
                <a:cubicBezTo>
                  <a:pt x="4305681" y="0"/>
                  <a:pt x="4305681" y="0"/>
                  <a:pt x="4305681" y="0"/>
                </a:cubicBezTo>
                <a:cubicBezTo>
                  <a:pt x="4638802" y="0"/>
                  <a:pt x="4908550" y="269875"/>
                  <a:pt x="4908550" y="603250"/>
                </a:cubicBezTo>
                <a:cubicBezTo>
                  <a:pt x="4908550" y="1209675"/>
                  <a:pt x="4908550" y="1209675"/>
                  <a:pt x="4908550" y="1209675"/>
                </a:cubicBezTo>
                <a:lnTo>
                  <a:pt x="4305681" y="1209675"/>
                </a:lnTo>
                <a:close/>
              </a:path>
            </a:pathLst>
          </a:custGeom>
          <a:solidFill>
            <a:srgbClr val="0E9E3C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963100-7261-53AB-F121-658FBC8488B1}"/>
              </a:ext>
            </a:extLst>
          </p:cNvPr>
          <p:cNvSpPr txBox="1"/>
          <p:nvPr/>
        </p:nvSpPr>
        <p:spPr>
          <a:xfrm>
            <a:off x="4082804" y="83698"/>
            <a:ext cx="13669413" cy="1110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– GMP ETAPA II</a:t>
            </a:r>
          </a:p>
          <a:p>
            <a:pPr>
              <a:lnSpc>
                <a:spcPts val="4320"/>
              </a:lnSpc>
            </a:pPr>
            <a:endParaRPr lang="en-US" sz="2200" b="1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23" name="Group 17">
            <a:extLst>
              <a:ext uri="{FF2B5EF4-FFF2-40B4-BE49-F238E27FC236}">
                <a16:creationId xmlns:a16="http://schemas.microsoft.com/office/drawing/2014/main" id="{D11779AD-54EE-3411-DAFB-94BD83AE8051}"/>
              </a:ext>
            </a:extLst>
          </p:cNvPr>
          <p:cNvGrpSpPr/>
          <p:nvPr/>
        </p:nvGrpSpPr>
        <p:grpSpPr>
          <a:xfrm>
            <a:off x="3039017" y="13289"/>
            <a:ext cx="904875" cy="907257"/>
            <a:chOff x="0" y="0"/>
            <a:chExt cx="1206500" cy="1209676"/>
          </a:xfrm>
        </p:grpSpPr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D9763B2-A6F0-F24C-8AD9-45AAEB18DE5B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5" name="Imagem 24">
            <a:extLst>
              <a:ext uri="{FF2B5EF4-FFF2-40B4-BE49-F238E27FC236}">
                <a16:creationId xmlns:a16="http://schemas.microsoft.com/office/drawing/2014/main" id="{EF6AB87B-390C-A8E6-83E9-5DB520E3C4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0" r="808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37856FEE-A36E-DB6E-6320-5FC43282D9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" r="8910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5AAD5CD-062D-370F-807C-986163DBBE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C94324E4-5049-7214-25AF-E3E6BF29220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B719A6C-1FEA-82E9-41CE-147F96EA1E59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6B51A82-3622-F0CE-BF25-179FE779AA28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4017845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1020-20D5-7B06-43CE-9D1D05341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8B7DA05-1C62-4CCD-7649-6CF10CBAAAFF}"/>
              </a:ext>
            </a:extLst>
          </p:cNvPr>
          <p:cNvSpPr txBox="1"/>
          <p:nvPr/>
        </p:nvSpPr>
        <p:spPr>
          <a:xfrm>
            <a:off x="3784136" y="2874435"/>
            <a:ext cx="7981143" cy="4517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/>
                <a:sym typeface="Gotham"/>
              </a:rPr>
              <a:t>Contratação de empresas especializadas para disponibilização de máquinas e equipamentos pesados, acompanhados do fornecimento de operadores, motoristas, manutenção preventiva e corretiva, bem como o fornecimento de combustível, a serem disponibilizados aos municípios.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04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R$ 45.407.957,06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26 unidades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171.600,00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6%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DB693B7-D4B2-9BED-A925-EDD9FBCD208F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8F7E47D-9FFD-CAF8-6D20-F442A0EBB5D4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0F8B2A43-B9EB-1B95-B9F5-8ADE676E3556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52/2026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BE7263A6-4E9C-AE09-F7F8-5728098187C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F66C5DD3-7E54-1112-983F-C0F6C789E5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35E65D81-8F21-C2AD-A430-0BE9F3775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E499D06-D1A4-A723-1958-A955DDB085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44AA050C-438B-A9DE-EF6E-67DBA4247EF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54784AC-96BC-E7F6-F3B2-84402C36AAD9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D33096D-30B1-88E2-77DE-6798AF8E6E8D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2436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C612-D5D7-2A6E-C4AC-6568E94B5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63A95468-8BE2-2AAB-3D01-84278EF9BA0F}"/>
              </a:ext>
            </a:extLst>
          </p:cNvPr>
          <p:cNvSpPr txBox="1"/>
          <p:nvPr/>
        </p:nvSpPr>
        <p:spPr>
          <a:xfrm>
            <a:off x="3784136" y="2874435"/>
            <a:ext cx="7981143" cy="4517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/>
                <a:sym typeface="Gotham"/>
              </a:rPr>
              <a:t>Contratação de empresas especializadas para disponibilização de máquinas e equipamentos pesados, acompanhados do fornecimento de operadores, motoristas, manutenção preventiva e corretiva, bem como o fornecimento de combustível, a serem disponibilizados aos municípios.</a:t>
            </a:r>
            <a:endParaRPr lang="pt-BR" b="1" dirty="0">
              <a:latin typeface="Gotham"/>
              <a:ea typeface="Gotham"/>
              <a:cs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05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R$ 45.409.011,16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26 unidades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171.600,00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10,4%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119B816-D4FB-8035-35F6-116981249466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79B165A-D88D-3551-7FF8-61CB96009CB8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9CEE0DBC-9E0A-333F-2A53-9A641FBE47E3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35/2026 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88230BFD-266B-A40D-1FF4-BE77AD3FB33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D3327D0D-A9CA-6DF9-42A9-9C726481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AA5177E-6FC5-5CAB-E447-4E3555C157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23A6A4-EF98-0168-B6C5-5492F80DC9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9818CF9F-393B-8D99-9697-7C925447F699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3301E42-87FA-70B9-2472-F3C1E1839B16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22B1288-C469-8812-F28C-FFCED02671DD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85448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94BA-F161-7492-DC01-64E7E7E63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E40744CE-799D-AC44-CF76-D841A2785427}"/>
              </a:ext>
            </a:extLst>
          </p:cNvPr>
          <p:cNvSpPr txBox="1"/>
          <p:nvPr/>
        </p:nvSpPr>
        <p:spPr>
          <a:xfrm>
            <a:off x="3784136" y="2874435"/>
            <a:ext cx="7981143" cy="4517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Contratação de empresas especializadas para disponibilização de máquinas e equipamentos pesados, acompanhados do fornecimento de operadores, motoristas, manutenção preventiva e corretiva, bem como o fornecimento de combustível, a serem disponibilizados aos municípios.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R$ 45.420.619,42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26 unidades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171.600,00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AE1F5ED-5716-2E19-CABE-7463711FFA63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68BC9EF-6526-99AF-6A55-729C38A37720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29FCBD91-A821-0BD3-AC29-A50EB4E44CFE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103/2026 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2C5D2485-9EEF-C4CC-09E2-8C4B78003DE8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A752B0-82A9-600B-D110-E5D921556D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2D1DEF44-585B-12BE-F04D-6D34F91A8355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2155357-8EB1-F6A2-29CA-AE71A9A6D005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4F453D4-1886-4810-0DB0-ED6DE3468205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17750C4-BD68-E736-AA90-5F6EC3FEDB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ED63E27-B885-9D17-1F97-81D5ECDC7B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8673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C9CBD-C957-4A28-E9BC-F00969A7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EBFA7383-858E-0EF1-FF7A-DCEA6D53432F}"/>
              </a:ext>
            </a:extLst>
          </p:cNvPr>
          <p:cNvSpPr txBox="1"/>
          <p:nvPr/>
        </p:nvSpPr>
        <p:spPr>
          <a:xfrm>
            <a:off x="3784136" y="2874435"/>
            <a:ext cx="7981143" cy="4517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OBRAS: </a:t>
            </a:r>
            <a:r>
              <a:rPr lang="pt-BR" dirty="0">
                <a:latin typeface="Gotham"/>
                <a:sym typeface="Gotham"/>
              </a:rPr>
              <a:t>Contratação de empresas especializadas para disponibilização de máquinas e equipamentos pesados, acompanhados do fornecimento de operadores, motoristas, manutenção preventiva e corretiva, bem como o fornecimento de combustível, a serem disponibilizados aos municípios.</a:t>
            </a:r>
            <a:endParaRPr lang="pt-BR" b="1" dirty="0">
              <a:latin typeface="Gotham"/>
              <a:ea typeface="Gotham"/>
              <a:cs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07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R$ 45.203.102,00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26 unidades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171.600,00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0,3%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A1A4E0FB-9E95-5921-5E47-3C9E97FCD3D5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D7E743F-1150-2167-FB14-7B1292E98606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E361CF6B-5B4C-F0B4-247B-ADF3E608D11C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34/2026 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31FD0811-30BA-1E76-04DB-853A4556CA93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776CE703-8EB9-285A-EFD4-7C092CB62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DC8CA3D5-0213-69AD-44FF-B967F38E3A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5A7D7D3-A835-A2A3-CC41-C4F170AC3D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5C2EAE83-B75B-A124-E0B5-526EA275BC4A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D529900-4385-D6AB-46A9-64CA220BF9F2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A77F563-6B7F-FD0D-D2DF-54A4D31FEFDB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561058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8769A-E7B3-CC6C-13B6-61455F54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4056583-AE32-BBB2-B55F-6C37048B6E9C}"/>
              </a:ext>
            </a:extLst>
          </p:cNvPr>
          <p:cNvSpPr txBox="1"/>
          <p:nvPr/>
        </p:nvSpPr>
        <p:spPr>
          <a:xfrm>
            <a:off x="3784136" y="2874435"/>
            <a:ext cx="7981143" cy="4517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OBRAS: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Contratação de empresas especializadas para disponibilização de máquinas e equipamentos pesados, acompanhados do fornecimento de operadores, motoristas, manutenção preventiva e corretiva, bem como o fornecimento de combustível, a serem disponibilizados aos municípios.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08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R$ 45.845.053,95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26 unidades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171600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0,0%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AB1796FC-D714-8098-06F3-286E074D36A6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0D1DA8A7-679D-67A7-EE23-06EAE33FE670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DF52B388-7669-E095-A2F5-B2898185D676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134/2026</a:t>
            </a:r>
            <a:endParaRPr lang="en-US" sz="2000" b="1" dirty="0">
              <a:solidFill>
                <a:srgbClr val="FF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5D1ADACA-CE6A-FA00-15E6-06904A6A57ED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81147F-B8BD-C930-EC07-9BE8B25F08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90F4DCE8-5167-E6E1-91C6-EAB06B6C9DD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EF8D20-75C6-6631-1F36-1174684AA54A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F620F24-60AE-71EC-BCCE-8069FDCF9BE2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327009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00471-3C3A-A17C-5D89-9B6ADC9E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AFE4E3D-2708-BF32-BA45-9DE3132D6EB9}"/>
              </a:ext>
            </a:extLst>
          </p:cNvPr>
          <p:cNvSpPr txBox="1"/>
          <p:nvPr/>
        </p:nvSpPr>
        <p:spPr>
          <a:xfrm>
            <a:off x="3784136" y="2874435"/>
            <a:ext cx="7981143" cy="4517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/>
                <a:sym typeface="Gotham"/>
              </a:rPr>
              <a:t>Contratação de empresas especializadas para disponibilização de máquinas e equipamentos pesados, acompanhados do fornecimento de operadores, motoristas, manutenção preventiva e corretiva, bem como o fornecimento de combustível, a serem disponibilizados aos municípios</a:t>
            </a:r>
            <a:endParaRPr lang="pt-BR" b="1" dirty="0">
              <a:latin typeface="Gotham"/>
              <a:ea typeface="Gotham"/>
              <a:cs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09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R$ 45.359.779,46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26 unidades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171.600,00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6,3%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951B2D39-AA80-901E-ADF5-30D9C4AE62EE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DBE4012-F075-64E3-44D9-E46BEB5D050C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1F979B00-FCF4-8905-60DE-B6F271A54743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</a:t>
            </a:r>
            <a:r>
              <a:rPr lang="en-US" sz="22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49/2026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6491633-9193-BFBD-92DE-E4DE28691309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45304839-2247-000D-4D9D-8FB1B46FD1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0EB9565E-8C2F-F4C2-A54F-305F38FB05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09C687A-30F9-C37E-C149-B56F8FE8D3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21EFB1E4-EB70-0B76-98AB-189C3E7A6BC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8BB6AA2-7FE6-729E-2FC3-30CC20832847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E0FD31E-E4B3-7D21-91D1-76893D61EDE2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785815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B910A-8AD8-475F-CA87-24B297593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BD31BA0-9809-29EA-05E4-88552B492353}"/>
              </a:ext>
            </a:extLst>
          </p:cNvPr>
          <p:cNvSpPr txBox="1"/>
          <p:nvPr/>
        </p:nvSpPr>
        <p:spPr>
          <a:xfrm>
            <a:off x="3784136" y="2874435"/>
            <a:ext cx="7981143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o fornecimento de máquinas pesadas e veículos destinados à execução de serviços de conservação de vias municipais não pavimentadas dos municípios contemplados na Região Metropolitana do Entorno do Distrito Federal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 panose="020B0604020202020204"/>
              </a:rPr>
              <a:t>40.099.821,55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TOTAL DE EQUIPAMENTOS:</a:t>
            </a:r>
            <a:r>
              <a:rPr lang="pt-BR" dirty="0">
                <a:latin typeface="Gotham" panose="020B0604020202020204"/>
              </a:rPr>
              <a:t> 26 unidades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HORAS CONTRATADAS: </a:t>
            </a:r>
            <a:r>
              <a:rPr lang="pt-BR" dirty="0"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171.600,00</a:t>
            </a:r>
            <a:endParaRPr lang="pt-BR" dirty="0">
              <a:latin typeface="Gotham" panose="020B0604020202020204"/>
              <a:ea typeface="Gotham" panose="020B0604020202020204"/>
              <a:cs typeface="Gotham" panose="020B060402020202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0%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C10A17C-4B15-C946-F4E0-A521BCA5B103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D76448A-981A-5F79-965F-5E95EC9075C8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3A95BEA-9C89-EB2C-76E6-4839B8BFFCE1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118/2026 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E5EB175E-AB34-C31B-A336-BF32D193BDEF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5487FC12-84B1-6FB7-23EE-95A815541483}"/>
              </a:ext>
            </a:extLst>
          </p:cNvPr>
          <p:cNvSpPr/>
          <p:nvPr/>
        </p:nvSpPr>
        <p:spPr>
          <a:xfrm>
            <a:off x="3477574" y="13290"/>
            <a:ext cx="13140652" cy="907256"/>
          </a:xfrm>
          <a:custGeom>
            <a:avLst/>
            <a:gdLst/>
            <a:ahLst/>
            <a:cxnLst/>
            <a:rect l="l" t="t" r="r" b="b"/>
            <a:pathLst>
              <a:path w="4908550" h="1209675">
                <a:moveTo>
                  <a:pt x="4305681" y="1209675"/>
                </a:moveTo>
                <a:cubicBezTo>
                  <a:pt x="0" y="1209675"/>
                  <a:pt x="0" y="1209675"/>
                  <a:pt x="0" y="1209675"/>
                </a:cubicBezTo>
                <a:cubicBezTo>
                  <a:pt x="0" y="0"/>
                  <a:pt x="0" y="0"/>
                  <a:pt x="0" y="0"/>
                </a:cubicBezTo>
                <a:cubicBezTo>
                  <a:pt x="4305681" y="0"/>
                  <a:pt x="4305681" y="0"/>
                  <a:pt x="4305681" y="0"/>
                </a:cubicBezTo>
                <a:cubicBezTo>
                  <a:pt x="4638802" y="0"/>
                  <a:pt x="4908550" y="269875"/>
                  <a:pt x="4908550" y="603250"/>
                </a:cubicBezTo>
                <a:cubicBezTo>
                  <a:pt x="4908550" y="1209675"/>
                  <a:pt x="4908550" y="1209675"/>
                  <a:pt x="4908550" y="1209675"/>
                </a:cubicBezTo>
                <a:lnTo>
                  <a:pt x="4305681" y="1209675"/>
                </a:lnTo>
                <a:close/>
              </a:path>
            </a:pathLst>
          </a:custGeom>
          <a:solidFill>
            <a:srgbClr val="0E9E3C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9388D2-C443-63CF-746A-F58FF9388F35}"/>
              </a:ext>
            </a:extLst>
          </p:cNvPr>
          <p:cNvSpPr txBox="1"/>
          <p:nvPr/>
        </p:nvSpPr>
        <p:spPr>
          <a:xfrm>
            <a:off x="4082804" y="83698"/>
            <a:ext cx="13669413" cy="1110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– GMP ENTORNO</a:t>
            </a:r>
          </a:p>
          <a:p>
            <a:pPr>
              <a:lnSpc>
                <a:spcPts val="4320"/>
              </a:lnSpc>
            </a:pPr>
            <a:endParaRPr lang="en-US" sz="2200" b="1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23" name="Group 17">
            <a:extLst>
              <a:ext uri="{FF2B5EF4-FFF2-40B4-BE49-F238E27FC236}">
                <a16:creationId xmlns:a16="http://schemas.microsoft.com/office/drawing/2014/main" id="{2E06566B-3D87-3D8C-DF4A-CF0B8DDAF75A}"/>
              </a:ext>
            </a:extLst>
          </p:cNvPr>
          <p:cNvGrpSpPr/>
          <p:nvPr/>
        </p:nvGrpSpPr>
        <p:grpSpPr>
          <a:xfrm>
            <a:off x="3039017" y="13289"/>
            <a:ext cx="904875" cy="907257"/>
            <a:chOff x="0" y="0"/>
            <a:chExt cx="1206500" cy="1209676"/>
          </a:xfrm>
        </p:grpSpPr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E91877-5197-3F50-5BDA-F8EA6143A5CC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253AA9BC-9C30-2131-4946-7F928B6283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C36B302E-BF06-05C3-6FD5-794C14793A92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0EFAC95-34AD-549A-375F-C46188608A97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ENTORNO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508332D-10D8-01BB-D094-7026FD310307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7E7A763-B8FF-8F15-7AB9-88F6576C6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E147566-3E8D-44A7-7D39-E74664E18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3456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Props1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619BDC2-EB4D-4233-A3E2-6B24AF9BD0D0}">
  <ds:schemaRefs>
    <ds:schemaRef ds:uri="http://schemas.microsoft.com/office/infopath/2007/PartnerControls"/>
    <ds:schemaRef ds:uri="http://schemas.microsoft.com/office/2006/documentManagement/types"/>
    <ds:schemaRef ds:uri="601e7d48-2183-4f89-9c5e-88ac28e28b7b"/>
    <ds:schemaRef ds:uri="http://purl.org/dc/dcmitype/"/>
    <ds:schemaRef ds:uri="http://www.w3.org/XML/1998/namespace"/>
    <ds:schemaRef ds:uri="http://purl.org/dc/terms/"/>
    <ds:schemaRef ds:uri="http://purl.org/dc/elements/1.1/"/>
    <ds:schemaRef ds:uri="4e8751e5-3848-4b34-b242-30c4c2c4c979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22051</TotalTime>
  <Words>974</Words>
  <Application>Microsoft Office PowerPoint</Application>
  <PresentationFormat>Personalizar</PresentationFormat>
  <Paragraphs>195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Rodolfo Parussoli</cp:lastModifiedBy>
  <cp:revision>149</cp:revision>
  <dcterms:created xsi:type="dcterms:W3CDTF">2006-08-16T00:00:00Z</dcterms:created>
  <dcterms:modified xsi:type="dcterms:W3CDTF">2026-08-14T17:18:46Z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