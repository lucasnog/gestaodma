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6"/>
  </p:notesMasterIdLst>
  <p:sldIdLst>
    <p:sldId id="332" r:id="rId5"/>
    <p:sldId id="333" r:id="rId6"/>
    <p:sldId id="417" r:id="rId7"/>
    <p:sldId id="336" r:id="rId8"/>
    <p:sldId id="337" r:id="rId9"/>
    <p:sldId id="340" r:id="rId10"/>
    <p:sldId id="418" r:id="rId11"/>
    <p:sldId id="334" r:id="rId12"/>
    <p:sldId id="338" r:id="rId13"/>
    <p:sldId id="339" r:id="rId14"/>
    <p:sldId id="341" r:id="rId15"/>
  </p:sldIdLst>
  <p:sldSz cx="18288000" cy="10287000"/>
  <p:notesSz cx="6858000" cy="9144000"/>
  <p:embeddedFontLst>
    <p:embeddedFont>
      <p:font typeface="Gotham" panose="020B0604020202020204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k Esteves" initials="" lastIdx="4" clrIdx="0">
    <p:extLst>
      <p:ext uri="{19B8F6BF-5375-455C-9EA6-DF929625EA0E}">
        <p15:presenceInfo xmlns:p15="http://schemas.microsoft.com/office/powerpoint/2012/main" userId="S::erick.esteves@gestaodma.com.br::553c7fd5-ff97-48fc-a7e2-fca936a1ced7" providerId="AD"/>
      </p:ext>
    </p:extLst>
  </p:cmAuthor>
  <p:cmAuthor id="2" name="Carlos Eduardo da Silva Duarte" initials="CE" lastIdx="2" clrIdx="1">
    <p:extLst>
      <p:ext uri="{19B8F6BF-5375-455C-9EA6-DF929625EA0E}">
        <p15:presenceInfo xmlns:p15="http://schemas.microsoft.com/office/powerpoint/2012/main" userId="S::carlos.sduarte@fornecedores.goias.gov.br::5f8f9a9f-adf7-4680-a019-47e3a6423b3a" providerId="AD"/>
      </p:ext>
    </p:extLst>
  </p:cmAuthor>
  <p:cmAuthor id="3" name="Ana Luísa Neves" initials="AN" lastIdx="1" clrIdx="2">
    <p:extLst>
      <p:ext uri="{19B8F6BF-5375-455C-9EA6-DF929625EA0E}">
        <p15:presenceInfo xmlns:p15="http://schemas.microsoft.com/office/powerpoint/2012/main" userId="S::ana.nabreu_outlook.com#ext#@consorciogerenciadordma.onmicrosoft.com::4de49deb-56eb-4b2c-8912-3efcae8a50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9E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951" autoAdjust="0"/>
    <p:restoredTop sz="94660"/>
  </p:normalViewPr>
  <p:slideViewPr>
    <p:cSldViewPr snapToGrid="0">
      <p:cViewPr varScale="1">
        <p:scale>
          <a:sx n="70" d="100"/>
          <a:sy n="70" d="100"/>
        </p:scale>
        <p:origin x="46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notesMaster" Target="notesMasters/notesMaster1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commentAuthors" Target="commentAuthors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Nogueira Lopes" userId="b4794c58-b96d-4e49-8f1f-2dabfe8a9e6e" providerId="ADAL" clId="{816383E1-CDCA-4CC2-B79A-A3F515FC65D6}"/>
    <pc:docChg chg="modSld">
      <pc:chgData name="Lucas Nogueira Lopes" userId="b4794c58-b96d-4e49-8f1f-2dabfe8a9e6e" providerId="ADAL" clId="{816383E1-CDCA-4CC2-B79A-A3F515FC65D6}" dt="2026-07-21T18:09:42.465" v="83" actId="1038"/>
      <pc:docMkLst>
        <pc:docMk/>
      </pc:docMkLst>
      <pc:sldChg chg="addSp modSp mod">
        <pc:chgData name="Lucas Nogueira Lopes" userId="b4794c58-b96d-4e49-8f1f-2dabfe8a9e6e" providerId="ADAL" clId="{816383E1-CDCA-4CC2-B79A-A3F515FC65D6}" dt="2026-07-21T18:08:54.013" v="5" actId="14826"/>
        <pc:sldMkLst>
          <pc:docMk/>
          <pc:sldMk cId="1098092809" sldId="334"/>
        </pc:sldMkLst>
        <pc:picChg chg="add mod">
          <ac:chgData name="Lucas Nogueira Lopes" userId="b4794c58-b96d-4e49-8f1f-2dabfe8a9e6e" providerId="ADAL" clId="{816383E1-CDCA-4CC2-B79A-A3F515FC65D6}" dt="2026-07-21T18:08:54.013" v="5" actId="14826"/>
          <ac:picMkLst>
            <pc:docMk/>
            <pc:sldMk cId="1098092809" sldId="334"/>
            <ac:picMk id="6" creationId="{0BB67199-C263-C90F-310F-6A35A4608F25}"/>
          </ac:picMkLst>
        </pc:picChg>
        <pc:picChg chg="add mod">
          <ac:chgData name="Lucas Nogueira Lopes" userId="b4794c58-b96d-4e49-8f1f-2dabfe8a9e6e" providerId="ADAL" clId="{816383E1-CDCA-4CC2-B79A-A3F515FC65D6}" dt="2026-07-21T18:08:47.418" v="4" actId="14826"/>
          <ac:picMkLst>
            <pc:docMk/>
            <pc:sldMk cId="1098092809" sldId="334"/>
            <ac:picMk id="8" creationId="{F7F47EFC-F52B-A786-3A6B-8662005B8EEB}"/>
          </ac:picMkLst>
        </pc:picChg>
      </pc:sldChg>
      <pc:sldChg chg="modSp mod">
        <pc:chgData name="Lucas Nogueira Lopes" userId="b4794c58-b96d-4e49-8f1f-2dabfe8a9e6e" providerId="ADAL" clId="{816383E1-CDCA-4CC2-B79A-A3F515FC65D6}" dt="2026-07-21T18:09:42.465" v="83" actId="1038"/>
        <pc:sldMkLst>
          <pc:docMk/>
          <pc:sldMk cId="255894506" sldId="336"/>
        </pc:sldMkLst>
        <pc:picChg chg="mod">
          <ac:chgData name="Lucas Nogueira Lopes" userId="b4794c58-b96d-4e49-8f1f-2dabfe8a9e6e" providerId="ADAL" clId="{816383E1-CDCA-4CC2-B79A-A3F515FC65D6}" dt="2026-07-21T18:09:42.465" v="83" actId="1038"/>
          <ac:picMkLst>
            <pc:docMk/>
            <pc:sldMk cId="255894506" sldId="336"/>
            <ac:picMk id="2" creationId="{DD571133-30D6-272B-2042-5C9EA06089E8}"/>
          </ac:picMkLst>
        </pc:picChg>
        <pc:picChg chg="mod">
          <ac:chgData name="Lucas Nogueira Lopes" userId="b4794c58-b96d-4e49-8f1f-2dabfe8a9e6e" providerId="ADAL" clId="{816383E1-CDCA-4CC2-B79A-A3F515FC65D6}" dt="2026-07-21T18:09:42.465" v="83" actId="1038"/>
          <ac:picMkLst>
            <pc:docMk/>
            <pc:sldMk cId="255894506" sldId="336"/>
            <ac:picMk id="5" creationId="{23E2F481-0D84-F979-8E95-FB4F5B084FD4}"/>
          </ac:picMkLst>
        </pc:picChg>
      </pc:sldChg>
      <pc:sldChg chg="modSp mod">
        <pc:chgData name="Lucas Nogueira Lopes" userId="b4794c58-b96d-4e49-8f1f-2dabfe8a9e6e" providerId="ADAL" clId="{816383E1-CDCA-4CC2-B79A-A3F515FC65D6}" dt="2026-07-21T18:09:26.167" v="48" actId="1038"/>
        <pc:sldMkLst>
          <pc:docMk/>
          <pc:sldMk cId="1030203465" sldId="337"/>
        </pc:sldMkLst>
        <pc:picChg chg="mod">
          <ac:chgData name="Lucas Nogueira Lopes" userId="b4794c58-b96d-4e49-8f1f-2dabfe8a9e6e" providerId="ADAL" clId="{816383E1-CDCA-4CC2-B79A-A3F515FC65D6}" dt="2026-07-21T18:09:26.167" v="48" actId="1038"/>
          <ac:picMkLst>
            <pc:docMk/>
            <pc:sldMk cId="1030203465" sldId="337"/>
            <ac:picMk id="3" creationId="{0ACB3FEA-3E4F-153B-1782-307A9A6FE244}"/>
          </ac:picMkLst>
        </pc:picChg>
        <pc:picChg chg="mod">
          <ac:chgData name="Lucas Nogueira Lopes" userId="b4794c58-b96d-4e49-8f1f-2dabfe8a9e6e" providerId="ADAL" clId="{816383E1-CDCA-4CC2-B79A-A3F515FC65D6}" dt="2026-07-21T18:09:26.167" v="48" actId="1038"/>
          <ac:picMkLst>
            <pc:docMk/>
            <pc:sldMk cId="1030203465" sldId="337"/>
            <ac:picMk id="18" creationId="{07D6A27F-08D5-D588-0349-FFEF79B59CC2}"/>
          </ac:picMkLst>
        </pc:picChg>
      </pc:sldChg>
      <pc:sldChg chg="addSp modSp mod">
        <pc:chgData name="Lucas Nogueira Lopes" userId="b4794c58-b96d-4e49-8f1f-2dabfe8a9e6e" providerId="ADAL" clId="{816383E1-CDCA-4CC2-B79A-A3F515FC65D6}" dt="2026-07-21T18:05:29.382" v="2" actId="14826"/>
        <pc:sldMkLst>
          <pc:docMk/>
          <pc:sldMk cId="525841923" sldId="418"/>
        </pc:sldMkLst>
        <pc:picChg chg="add mod">
          <ac:chgData name="Lucas Nogueira Lopes" userId="b4794c58-b96d-4e49-8f1f-2dabfe8a9e6e" providerId="ADAL" clId="{816383E1-CDCA-4CC2-B79A-A3F515FC65D6}" dt="2026-07-21T18:05:29.382" v="2" actId="14826"/>
          <ac:picMkLst>
            <pc:docMk/>
            <pc:sldMk cId="525841923" sldId="418"/>
            <ac:picMk id="7" creationId="{A34BF0A9-BE16-3DD3-B140-E315982F7E6E}"/>
          </ac:picMkLst>
        </pc:picChg>
        <pc:picChg chg="add mod">
          <ac:chgData name="Lucas Nogueira Lopes" userId="b4794c58-b96d-4e49-8f1f-2dabfe8a9e6e" providerId="ADAL" clId="{816383E1-CDCA-4CC2-B79A-A3F515FC65D6}" dt="2026-07-21T18:05:19.386" v="1" actId="14826"/>
          <ac:picMkLst>
            <pc:docMk/>
            <pc:sldMk cId="525841923" sldId="418"/>
            <ac:picMk id="9" creationId="{01C1EA30-0927-11A1-35DB-844A4F1DF716}"/>
          </ac:picMkLst>
        </pc:picChg>
      </pc:sldChg>
    </pc:docChg>
  </pc:docChgLst>
  <pc:docChgLst>
    <pc:chgData name="Ana Luisa Neves Abreu" userId="S::ana.nabreu@fornecedores.goias.gov.br::d15c2549-03e1-4fc7-913e-94ad6c499cc9" providerId="AD" clId="Web-{C548F69E-F3A5-54DB-4840-071CF6B39898}"/>
    <pc:docChg chg="delSld modSld">
      <pc:chgData name="Ana Luisa Neves Abreu" userId="S::ana.nabreu@fornecedores.goias.gov.br::d15c2549-03e1-4fc7-913e-94ad6c499cc9" providerId="AD" clId="Web-{C548F69E-F3A5-54DB-4840-071CF6B39898}" dt="2026-07-13T12:41:26.473" v="157"/>
      <pc:docMkLst>
        <pc:docMk/>
      </pc:docMkLst>
    </pc:docChg>
  </pc:docChgLst>
  <pc:docChgLst>
    <pc:chgData name="Ana Luisa Neves Abreu" userId="d15c2549-03e1-4fc7-913e-94ad6c499cc9" providerId="ADAL" clId="{DE53FC85-EA55-41E4-A039-BB855B497A64}"/>
    <pc:docChg chg="undo custSel modSld">
      <pc:chgData name="Ana Luisa Neves Abreu" userId="d15c2549-03e1-4fc7-913e-94ad6c499cc9" providerId="ADAL" clId="{DE53FC85-EA55-41E4-A039-BB855B497A64}" dt="2026-07-14T13:49:39.204" v="167" actId="6549"/>
      <pc:docMkLst>
        <pc:docMk/>
      </pc:docMkLst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1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1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jpg"/><Relationship Id="rId4" Type="http://schemas.openxmlformats.org/officeDocument/2006/relationships/image" Target="../media/image1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AC6F-C373-4D6E-A175-A67E97A8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D513316A-0817-FC4C-77BC-DBB94059D493}"/>
              </a:ext>
            </a:extLst>
          </p:cNvPr>
          <p:cNvSpPr/>
          <p:nvPr/>
        </p:nvSpPr>
        <p:spPr>
          <a:xfrm rot="-5400000">
            <a:off x="5152519" y="10028"/>
            <a:ext cx="10288011" cy="10267949"/>
          </a:xfrm>
          <a:custGeom>
            <a:avLst/>
            <a:gdLst/>
            <a:ahLst/>
            <a:cxnLst/>
            <a:rect l="l" t="t" r="r" b="b"/>
            <a:pathLst>
              <a:path w="10288011" h="15430499">
                <a:moveTo>
                  <a:pt x="0" y="0"/>
                </a:moveTo>
                <a:lnTo>
                  <a:pt x="10288012" y="0"/>
                </a:lnTo>
                <a:lnTo>
                  <a:pt x="10288012" y="15430499"/>
                </a:lnTo>
                <a:lnTo>
                  <a:pt x="0" y="154304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-5" r="-5"/>
            </a:stretch>
          </a:blipFill>
        </p:spPr>
        <p:txBody>
          <a:bodyPr/>
          <a:lstStyle/>
          <a:p>
            <a:endParaRPr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A392788F-C4BF-4E7D-C3C8-966123BD186E}"/>
              </a:ext>
            </a:extLst>
          </p:cNvPr>
          <p:cNvGrpSpPr/>
          <p:nvPr/>
        </p:nvGrpSpPr>
        <p:grpSpPr>
          <a:xfrm>
            <a:off x="5161504" y="0"/>
            <a:ext cx="13125450" cy="10287000"/>
            <a:chOff x="0" y="0"/>
            <a:chExt cx="17500600" cy="13716000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FD567DA3-DC9C-A299-2C14-3EB8F427A271}"/>
                </a:ext>
              </a:extLst>
            </p:cNvPr>
            <p:cNvSpPr/>
            <p:nvPr/>
          </p:nvSpPr>
          <p:spPr>
            <a:xfrm>
              <a:off x="0" y="0"/>
              <a:ext cx="17500600" cy="13716000"/>
            </a:xfrm>
            <a:custGeom>
              <a:avLst/>
              <a:gdLst/>
              <a:ahLst/>
              <a:cxnLst/>
              <a:rect l="l" t="t" r="r" b="b"/>
              <a:pathLst>
                <a:path w="17500600" h="13716000">
                  <a:moveTo>
                    <a:pt x="0" y="0"/>
                  </a:moveTo>
                  <a:lnTo>
                    <a:pt x="17500600" y="0"/>
                  </a:lnTo>
                  <a:lnTo>
                    <a:pt x="175006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85D34EF-85ED-9CBF-2425-60752C4EF967}"/>
              </a:ext>
            </a:extLst>
          </p:cNvPr>
          <p:cNvSpPr txBox="1"/>
          <p:nvPr/>
        </p:nvSpPr>
        <p:spPr>
          <a:xfrm>
            <a:off x="6458508" y="3729055"/>
            <a:ext cx="6060114" cy="553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3600" dirty="0">
                <a:solidFill>
                  <a:srgbClr val="00B050"/>
                </a:solidFill>
                <a:latin typeface="Gotham"/>
                <a:ea typeface="Gotham"/>
                <a:cs typeface="Gotham"/>
                <a:sym typeface="Gotham"/>
              </a:rPr>
              <a:t>OAEs, OACs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FF5A55A-CAC3-B746-5CF1-2182B51FBDFF}"/>
              </a:ext>
            </a:extLst>
          </p:cNvPr>
          <p:cNvSpPr txBox="1"/>
          <p:nvPr/>
        </p:nvSpPr>
        <p:spPr>
          <a:xfrm>
            <a:off x="5888520" y="-166728"/>
            <a:ext cx="6060114" cy="46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20"/>
              </a:lnSpc>
            </a:pPr>
            <a:r>
              <a:rPr lang="en-US" sz="29850" dirty="0">
                <a:solidFill>
                  <a:srgbClr val="2DA54A"/>
                </a:solidFill>
                <a:latin typeface="Gotham Light"/>
                <a:ea typeface="Gotham Light"/>
                <a:cs typeface="Gotham Light"/>
                <a:sym typeface="Gotham Light"/>
              </a:rPr>
              <a:t>8.</a:t>
            </a:r>
          </a:p>
        </p:txBody>
      </p:sp>
      <p:grpSp>
        <p:nvGrpSpPr>
          <p:cNvPr id="15" name="Group 9">
            <a:extLst>
              <a:ext uri="{FF2B5EF4-FFF2-40B4-BE49-F238E27FC236}">
                <a16:creationId xmlns:a16="http://schemas.microsoft.com/office/drawing/2014/main" id="{07C63651-A145-6E3D-3690-B851D9873EEC}"/>
              </a:ext>
            </a:extLst>
          </p:cNvPr>
          <p:cNvGrpSpPr/>
          <p:nvPr/>
        </p:nvGrpSpPr>
        <p:grpSpPr>
          <a:xfrm>
            <a:off x="7313363" y="5744379"/>
            <a:ext cx="2812677" cy="3028750"/>
            <a:chOff x="0" y="0"/>
            <a:chExt cx="4019550" cy="4092576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73CF836-53E9-743E-5C88-8584BC373ED7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17" name="TextBox 11">
              <a:extLst>
                <a:ext uri="{FF2B5EF4-FFF2-40B4-BE49-F238E27FC236}">
                  <a16:creationId xmlns:a16="http://schemas.microsoft.com/office/drawing/2014/main" id="{266A4E99-8175-7B86-9F84-8E7175237087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19" name="Group 9">
            <a:extLst>
              <a:ext uri="{FF2B5EF4-FFF2-40B4-BE49-F238E27FC236}">
                <a16:creationId xmlns:a16="http://schemas.microsoft.com/office/drawing/2014/main" id="{967687CE-038E-AB28-E228-816753BED45E}"/>
              </a:ext>
            </a:extLst>
          </p:cNvPr>
          <p:cNvGrpSpPr/>
          <p:nvPr/>
        </p:nvGrpSpPr>
        <p:grpSpPr>
          <a:xfrm>
            <a:off x="10516997" y="5744378"/>
            <a:ext cx="2812677" cy="3028750"/>
            <a:chOff x="0" y="0"/>
            <a:chExt cx="4019550" cy="4092576"/>
          </a:xfrm>
        </p:grpSpPr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D082DA36-DB74-7E64-ABAA-48365762B6E2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A7FA0DE0-408C-A938-B183-2E543B859DEE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grpSp>
        <p:nvGrpSpPr>
          <p:cNvPr id="23" name="Group 9">
            <a:extLst>
              <a:ext uri="{FF2B5EF4-FFF2-40B4-BE49-F238E27FC236}">
                <a16:creationId xmlns:a16="http://schemas.microsoft.com/office/drawing/2014/main" id="{29FE51C8-5336-FE1D-DC0B-9E5E3985FDFC}"/>
              </a:ext>
            </a:extLst>
          </p:cNvPr>
          <p:cNvGrpSpPr/>
          <p:nvPr/>
        </p:nvGrpSpPr>
        <p:grpSpPr>
          <a:xfrm>
            <a:off x="13720631" y="5744378"/>
            <a:ext cx="2812677" cy="3028750"/>
            <a:chOff x="0" y="0"/>
            <a:chExt cx="4019550" cy="4092576"/>
          </a:xfrm>
        </p:grpSpPr>
        <p:sp>
          <p:nvSpPr>
            <p:cNvPr id="24" name="Freeform 10">
              <a:extLst>
                <a:ext uri="{FF2B5EF4-FFF2-40B4-BE49-F238E27FC236}">
                  <a16:creationId xmlns:a16="http://schemas.microsoft.com/office/drawing/2014/main" id="{E1481DD3-A2CE-D123-E47C-152E420ED11B}"/>
                </a:ext>
              </a:extLst>
            </p:cNvPr>
            <p:cNvSpPr/>
            <p:nvPr/>
          </p:nvSpPr>
          <p:spPr>
            <a:xfrm>
              <a:off x="0" y="0"/>
              <a:ext cx="4019550" cy="4092575"/>
            </a:xfrm>
            <a:custGeom>
              <a:avLst/>
              <a:gdLst/>
              <a:ahLst/>
              <a:cxnLst/>
              <a:rect l="l" t="t" r="r" b="b"/>
              <a:pathLst>
                <a:path w="4019550" h="4092575">
                  <a:moveTo>
                    <a:pt x="0" y="4092575"/>
                  </a:moveTo>
                  <a:cubicBezTo>
                    <a:pt x="2800350" y="4092575"/>
                    <a:pt x="2800350" y="4092575"/>
                    <a:pt x="2800350" y="4092575"/>
                  </a:cubicBezTo>
                  <a:cubicBezTo>
                    <a:pt x="3470275" y="4092575"/>
                    <a:pt x="4019550" y="3543300"/>
                    <a:pt x="4019550" y="2873375"/>
                  </a:cubicBezTo>
                  <a:cubicBezTo>
                    <a:pt x="4019550" y="1219200"/>
                    <a:pt x="4019550" y="1219200"/>
                    <a:pt x="4019550" y="1219200"/>
                  </a:cubicBezTo>
                  <a:cubicBezTo>
                    <a:pt x="4019550" y="549275"/>
                    <a:pt x="3470275" y="0"/>
                    <a:pt x="2800350" y="0"/>
                  </a:cubicBezTo>
                  <a:cubicBezTo>
                    <a:pt x="1219200" y="0"/>
                    <a:pt x="1219200" y="0"/>
                    <a:pt x="1219200" y="0"/>
                  </a:cubicBezTo>
                  <a:cubicBezTo>
                    <a:pt x="549275" y="0"/>
                    <a:pt x="0" y="549275"/>
                    <a:pt x="0" y="1219200"/>
                  </a:cubicBezTo>
                  <a:lnTo>
                    <a:pt x="0" y="4092575"/>
                  </a:lnTo>
                  <a:close/>
                </a:path>
              </a:pathLst>
            </a:custGeom>
            <a:solidFill>
              <a:srgbClr val="2DA54A"/>
            </a:solidFill>
          </p:spPr>
        </p:sp>
        <p:sp>
          <p:nvSpPr>
            <p:cNvPr id="25" name="TextBox 11">
              <a:extLst>
                <a:ext uri="{FF2B5EF4-FFF2-40B4-BE49-F238E27FC236}">
                  <a16:creationId xmlns:a16="http://schemas.microsoft.com/office/drawing/2014/main" id="{4C54C395-4186-0FFD-E287-5A7DA19BB910}"/>
                </a:ext>
              </a:extLst>
            </p:cNvPr>
            <p:cNvSpPr txBox="1"/>
            <p:nvPr/>
          </p:nvSpPr>
          <p:spPr>
            <a:xfrm>
              <a:off x="0" y="0"/>
              <a:ext cx="4019550" cy="4092576"/>
            </a:xfrm>
            <a:prstGeom prst="rect">
              <a:avLst/>
            </a:prstGeom>
          </p:spPr>
          <p:txBody>
            <a:bodyPr lIns="50800" tIns="50800" rIns="50800" bIns="50800" rtlCol="0" anchor="t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Gotham"/>
                  <a:ea typeface="Gotham"/>
                  <a:cs typeface="Gotham"/>
                  <a:sym typeface="Gotham"/>
                </a:rPr>
                <a:t>.</a:t>
              </a:r>
            </a:p>
          </p:txBody>
        </p:sp>
      </p:grpSp>
      <p:pic>
        <p:nvPicPr>
          <p:cNvPr id="2" name="Imagem 1">
            <a:extLst>
              <a:ext uri="{FF2B5EF4-FFF2-40B4-BE49-F238E27FC236}">
                <a16:creationId xmlns:a16="http://schemas.microsoft.com/office/drawing/2014/main" id="{AC3A0A02-AFE6-244A-1B7A-494B24166E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378B8EC1-D186-2A7A-28C2-4C98B9DF355A}"/>
              </a:ext>
            </a:extLst>
          </p:cNvPr>
          <p:cNvSpPr txBox="1"/>
          <p:nvPr/>
        </p:nvSpPr>
        <p:spPr>
          <a:xfrm>
            <a:off x="7754788" y="7145851"/>
            <a:ext cx="1929826" cy="643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9 CONTRATOS</a:t>
            </a:r>
            <a:b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</a:br>
            <a:endParaRPr lang="en-US" b="1" dirty="0">
              <a:solidFill>
                <a:schemeClr val="bg1"/>
              </a:solidFill>
              <a:latin typeface="Gotham"/>
              <a:sym typeface="Gotham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226799C-0B1A-4D33-1869-A4981C6F1EAC}"/>
              </a:ext>
            </a:extLst>
          </p:cNvPr>
          <p:cNvSpPr txBox="1"/>
          <p:nvPr/>
        </p:nvSpPr>
        <p:spPr>
          <a:xfrm>
            <a:off x="10596980" y="6658587"/>
            <a:ext cx="26527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b="1" dirty="0">
                <a:solidFill>
                  <a:schemeClr val="bg1"/>
                </a:solidFill>
                <a:latin typeface="Gotham"/>
              </a:rPr>
              <a:t>PONTES, ENCABEÇAMENTOS,  GALERIAS E BUEIROS EXECUTADOS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7534B37-FB1B-834B-5372-32C52F0966D0}"/>
              </a:ext>
            </a:extLst>
          </p:cNvPr>
          <p:cNvSpPr txBox="1"/>
          <p:nvPr/>
        </p:nvSpPr>
        <p:spPr>
          <a:xfrm>
            <a:off x="13891630" y="6944018"/>
            <a:ext cx="2470678" cy="911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VALOR TOTAL CONTRATADO </a:t>
            </a:r>
          </a:p>
          <a:p>
            <a:pPr algn="ctr">
              <a:lnSpc>
                <a:spcPts val="2160"/>
              </a:lnSpc>
            </a:pPr>
            <a:r>
              <a:rPr lang="en-US" sz="1800" b="1" dirty="0">
                <a:solidFill>
                  <a:schemeClr val="bg1"/>
                </a:solidFill>
                <a:latin typeface="Gotham"/>
                <a:ea typeface="Gotham"/>
                <a:cs typeface="Gotham"/>
                <a:sym typeface="Gotham"/>
              </a:rPr>
              <a:t>R$ 34.160.108,83</a:t>
            </a:r>
            <a:endParaRPr lang="en-US" sz="1800" b="1" dirty="0">
              <a:solidFill>
                <a:schemeClr val="bg1"/>
              </a:solidFill>
              <a:highlight>
                <a:srgbClr val="FF0000"/>
              </a:highlight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CA6C48F5-41BE-3B7D-C2FA-68690E5A8A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091"/>
          <a:stretch>
            <a:fillRect/>
          </a:stretch>
        </p:blipFill>
        <p:spPr>
          <a:xfrm>
            <a:off x="-6210300" y="-3"/>
            <a:ext cx="11371804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145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81BCB-ECC8-5590-A39D-98E9894B7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9BEFBA5E-43E2-B982-2D98-C97077DFF533}"/>
              </a:ext>
            </a:extLst>
          </p:cNvPr>
          <p:cNvSpPr txBox="1"/>
          <p:nvPr/>
        </p:nvSpPr>
        <p:spPr>
          <a:xfrm>
            <a:off x="2688415" y="2868142"/>
            <a:ext cx="8003890" cy="24461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Calibri"/>
                <a:cs typeface="Calibri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Execução de obra de arte especial sobre o Rio Crixás Mirim, estrada vicinal, entrada GO-454 e GO-336, Nova Crixás-GO.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R$ 4.773.577,43</a:t>
            </a:r>
            <a:endParaRPr lang="pt-BR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60 metros</a:t>
            </a:r>
            <a:endParaRPr lang="pt-BR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Em andamento</a:t>
            </a:r>
            <a:endParaRPr lang="pt-BR" dirty="0">
              <a:solidFill>
                <a:srgbClr val="000000"/>
              </a:solidFill>
              <a:latin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94,7%</a:t>
            </a:r>
            <a:endParaRPr lang="pt-BR" dirty="0"/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001F0102-ACAC-CC17-07DC-FA1FD1D9DCB1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7DEDB38E-C81B-EE8E-6E93-D841995FBD74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D5AEB73-4EF4-8471-4245-DC04A4C0B83B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E8C9FF3-093B-5ECC-BF3E-7368EDA19D85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136/2023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11F95513-821D-093E-23FD-156A82002B21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7CE12DF1-DFED-0D33-424F-DB565C82AF8E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4E4AE162-1355-B709-D4D2-95871E56CF52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 EM ANDAMENTO - OAEs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99F7DB01-583C-6C1A-A9E0-2F361262C1FC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21E4DFB5-65BF-8CBC-A1D0-03E4B30BB874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CC842D1F-386A-7DA5-2AF1-6A27DB68D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2700" y="931997"/>
            <a:ext cx="3529891" cy="39948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AD330BE2-5BAC-4A2A-376F-E5002ED738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206" y="5105255"/>
            <a:ext cx="3529891" cy="39948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FBCE532-14DD-CC36-A0CB-912D6421D73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AEBA1FD1-4E19-93AC-B1A2-BEC3C3F2675E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FA25100-DC8F-6A63-5299-607D72577D0E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8384785-73DC-973F-03EA-F1B3C7938FE1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073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5E322-341C-4C89-358F-EEA897D7F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62EC1D7A-8DDF-7786-83F6-827E6F4C0D54}"/>
              </a:ext>
            </a:extLst>
          </p:cNvPr>
          <p:cNvSpPr txBox="1"/>
          <p:nvPr/>
        </p:nvSpPr>
        <p:spPr>
          <a:xfrm>
            <a:off x="2688415" y="2868142"/>
            <a:ext cx="8003890" cy="2030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Calibri"/>
                <a:cs typeface="Calibri"/>
              </a:rPr>
              <a:t>OBJETO:</a:t>
            </a:r>
            <a:r>
              <a:rPr lang="pt-BR" dirty="0">
                <a:solidFill>
                  <a:srgbClr val="3C3C3C"/>
                </a:solidFill>
                <a:latin typeface="Gotham"/>
                <a:ea typeface="Calibri"/>
                <a:cs typeface="Calibri"/>
              </a:rPr>
              <a:t> Execução das obras de encabeçamento da ponte sobre Rio Verdão, em Maurilândia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.</a:t>
            </a:r>
            <a:endParaRPr lang="pt-B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R$ 1.055.746,87</a:t>
            </a:r>
            <a:endParaRPr lang="pt-BR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DIMENSÃO DA OBRA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7.451,43 m²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SITUAÇÃO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</a:rPr>
              <a:t>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</a:rPr>
              <a:t>Concluído</a:t>
            </a:r>
            <a:endParaRPr lang="pt-BR" dirty="0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41680260-9E6E-B3B7-0495-07237B09C6F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DBFA7DB-D7E0-4A0D-31D5-6484CC7685A6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B0189956-06B8-3763-D9B6-FCFC8781053D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8BC06695-25E0-94F4-69BD-BAC9E7AEABA7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170/2021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B31BD60B-981B-9097-3071-84412DD9CA11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7F636422-4424-ACBA-28CD-C82E2C25550E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E2645740-B213-0AC5-618A-5603F5E2B63B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CONTRATOS CONCLUÍDOS - OAEs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66F9F3DB-CB0F-EB5E-9AA9-4253B91E0183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4BFE8540-2D24-1D84-6B87-CFC59CFDD35B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33D82150-B6BD-0208-F2AD-1BE8B224D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096" y="996860"/>
            <a:ext cx="3555584" cy="399790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13F5449A-D860-8015-CD65-C2451BE93E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2664" y="4984902"/>
            <a:ext cx="3567931" cy="368180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/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058F5D8-BC75-E95F-667A-F61449D3F7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40E8D6D0-7715-C1FF-9125-9DBC7293AE90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4CD0F1F3-31B5-DF81-1D8C-1CC33CC05205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3DFC9AB1-4526-57B6-E5C9-D5B822588FA7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532764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88428-CC96-F086-DFA0-29EB7C7AD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502E9A57-2723-1D35-C21B-FAA8744074AB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59C0994-8B14-A4C6-0A28-4409599846E0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E7774781-A694-293C-3CA7-C036813FCFD3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61C41E6-211B-9180-C6B2-B66CA5AF02EC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92/2021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0A7738A-0086-5077-9D14-74727D956F83}"/>
              </a:ext>
            </a:extLst>
          </p:cNvPr>
          <p:cNvSpPr txBox="1"/>
          <p:nvPr/>
        </p:nvSpPr>
        <p:spPr>
          <a:xfrm>
            <a:off x="2688409" y="2900238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Contratação de empresa especializada para prestação de serviços de reforço de fundação da PCA sobre o Rio Corrente, na rodovia GO-184, trecho SRE184EGO0030, no município de Serranópolis.</a:t>
            </a:r>
            <a:endParaRPr lang="pt-BR" dirty="0">
              <a:latin typeface="Calibri"/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 panose="020B0604020202020204"/>
              </a:rPr>
              <a:t>VALOR</a:t>
            </a: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R$ 702.009,74</a:t>
            </a:r>
            <a:endParaRPr lang="pt-BR" dirty="0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84 metros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dirty="0"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D571133-30D6-272B-2042-5C9EA0608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1290" y="1080887"/>
            <a:ext cx="3438580" cy="363870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3E2F481-0D84-F979-8E95-FB4F5B084F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41291" y="4940650"/>
            <a:ext cx="3438579" cy="393958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F583EFF-3858-66AB-5687-DD52B853EC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845A71F8-5B4E-C4C5-15FB-0558E6D5186D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F838F83-5462-49F0-36E1-0B89BD7947DC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E6C0021-C3EB-4297-F81C-9FCB784F4D78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255894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AF6C7-D5EC-0FC2-9F9B-9667BFCF2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37514540-854B-8141-A573-9C2A2A8C6974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30DBCCE3-8FA2-54EC-4E8C-B1A97678923D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20D45B9-1D46-3C5F-AC59-27D32C01E524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6690BEF-8CAC-DE98-6280-4576EE5ECA20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141/2022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CFFE323A-1CE6-7CAB-BB3F-EC703C9D87BB}"/>
              </a:ext>
            </a:extLst>
          </p:cNvPr>
          <p:cNvSpPr txBox="1"/>
          <p:nvPr/>
        </p:nvSpPr>
        <p:spPr>
          <a:xfrm>
            <a:off x="2688409" y="2900238"/>
            <a:ext cx="800389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  <a:sym typeface="Gotham"/>
              </a:rPr>
              <a:t>Execução das obras de ponte sobre o Córrego Do Ivo, no município de Aparecida do Rio Doce.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R$ 1.072.093,49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16,30 metros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dirty="0">
              <a:latin typeface="Gotham"/>
              <a:ea typeface="Gotham"/>
              <a:cs typeface="Gotham"/>
              <a:sym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ACB3FEA-3E4F-153B-1782-307A9A6FE2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8857" y="947692"/>
            <a:ext cx="3527478" cy="379629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07D6A27F-08D5-D588-0349-FFEF79B59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8858" y="4993659"/>
            <a:ext cx="3527478" cy="397023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92883705-397E-136A-0B18-F5C8C7C2E1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18608596-07A6-A94F-3A98-726423A95E1F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6FD87A-7472-C662-BC65-92CAF1523DF2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96610039-946F-A26A-2D0E-B4D82157020A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1030203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DBD5-6F59-7207-6071-850FBF41A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239BFB54-0A65-D2BD-A34C-61E45B685A2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18D9B661-7E85-6565-C4CC-B5A4C6BA61D3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52E8A4C-420E-8707-E320-45BAB9EB5A18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8203CA6-5915-1182-00E1-D8ABD21435EF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</a:t>
            </a:r>
            <a:r>
              <a:rPr lang="en-US" sz="25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130/2022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36B34512-9D02-5493-C9B5-A0EA06E2789C}"/>
              </a:ext>
            </a:extLst>
          </p:cNvPr>
          <p:cNvSpPr txBox="1"/>
          <p:nvPr/>
        </p:nvSpPr>
        <p:spPr>
          <a:xfrm>
            <a:off x="2688409" y="2900238"/>
            <a:ext cx="8003890" cy="24397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</a:rPr>
              <a:t>Execução da obra de arte especial, objetivando restabelecer a trafegabilidade da GO-236, trecho: Flores de Goiás a Alvorada do Norte.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R$ 1.820.638,49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53,50 metros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1786B6-5211-12C6-7EA2-2ADAC7B7B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4096" y="5155021"/>
            <a:ext cx="3795405" cy="378195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9946440B-A3AF-D2BD-FE1B-B46AE7AC85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34097" y="1082771"/>
            <a:ext cx="3795405" cy="3634934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B33F65D5-05F6-CEC0-C41D-AD0DBA9672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453D33D-8DEA-6548-8580-2F7FF2B682A6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039B553-10DE-D1F1-D882-F5A99B49BD66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7EB4308-8C09-6314-92D0-A2C732B2F31C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</p:spTree>
    <p:extLst>
      <p:ext uri="{BB962C8B-B14F-4D97-AF65-F5344CB8AC3E}">
        <p14:creationId xmlns:p14="http://schemas.microsoft.com/office/powerpoint/2010/main" val="252575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2202E-ECBC-172F-C013-7907E5114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DF67D979-E4FF-DD9C-CD76-EAD0215455E7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51625FBE-3A12-C694-7726-BA9874BF236C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F0EA0D7E-39ED-E039-7976-90E9EBAAA6D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8F846FA6-448A-78A6-892D-CED30DADE401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</a:t>
            </a:r>
            <a:r>
              <a:rPr lang="en-US" sz="25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04/2023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B40FC3B3-5DDD-1CA4-E800-20224A90BD4A}"/>
              </a:ext>
            </a:extLst>
          </p:cNvPr>
          <p:cNvSpPr txBox="1"/>
          <p:nvPr/>
        </p:nvSpPr>
        <p:spPr>
          <a:xfrm>
            <a:off x="2688409" y="2900238"/>
            <a:ext cx="8003890" cy="285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 panose="020B0604020202020204"/>
              </a:rPr>
              <a:t>Implementação de galerias de águas pluviais, obras de artes especiais, serviços de terraplanagem, pavimentação, calçamento e drenagem, no distrito de São Jorge no município de Alto Paraíso de Goiás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16.350.463,90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DIMENSÃO DA OBRA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: 38.812,41 m²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31D1E5F6-2027-14F0-1053-FD1E165B4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AFC950AE-CB4B-7B10-3573-89D4BD1C3F2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07C85BA-6361-D51B-AD11-61B5908873B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6F67E5B-DAA8-ACD6-CEB8-698BB7D150A8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4BF0A9-BE16-3DD3-B140-E315982F7E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6" r="19766"/>
          <a:stretch/>
        </p:blipFill>
        <p:spPr>
          <a:xfrm>
            <a:off x="12934096" y="5155021"/>
            <a:ext cx="3795405" cy="378195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01C1EA30-0927-11A1-35DB-844A4F1DF7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501" r="22501"/>
          <a:stretch/>
        </p:blipFill>
        <p:spPr>
          <a:xfrm>
            <a:off x="12934097" y="1082771"/>
            <a:ext cx="3795405" cy="3634934"/>
          </a:xfrm>
          <a:prstGeom prst="round2DiagRect">
            <a:avLst>
              <a:gd name="adj1" fmla="val 17384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525841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79302-A394-3956-834C-FC6CFB3D4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8F8C3A76-91DB-FD3F-CE59-91568094B366}"/>
              </a:ext>
            </a:extLst>
          </p:cNvPr>
          <p:cNvSpPr txBox="1"/>
          <p:nvPr/>
        </p:nvSpPr>
        <p:spPr>
          <a:xfrm>
            <a:off x="2688415" y="2868142"/>
            <a:ext cx="8003890" cy="20306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Calibri"/>
                <a:cs typeface="Calibri"/>
              </a:rPr>
              <a:t>OBJETO:</a:t>
            </a:r>
            <a:r>
              <a:rPr lang="pt-BR" dirty="0">
                <a:solidFill>
                  <a:srgbClr val="3C3C3C"/>
                </a:solidFill>
                <a:latin typeface="Gotham"/>
                <a:ea typeface="Calibri"/>
                <a:cs typeface="Calibri"/>
              </a:rPr>
              <a:t> </a:t>
            </a:r>
            <a:r>
              <a:rPr lang="pt-BR" dirty="0">
                <a:latin typeface="Gotham"/>
              </a:rPr>
              <a:t>Execução de ponte na rodovia GO-222, sobre o córrego São Manoe</a:t>
            </a:r>
            <a:r>
              <a:rPr lang="pt-BR" dirty="0">
                <a:latin typeface="Gotham"/>
                <a:ea typeface="Calibri"/>
                <a:cs typeface="Calibri"/>
              </a:rPr>
              <a:t>l</a:t>
            </a:r>
            <a:r>
              <a:rPr lang="pt-BR" dirty="0">
                <a:latin typeface="Gotham"/>
              </a:rPr>
              <a:t>.</a:t>
            </a:r>
            <a:endParaRPr lang="pt-BR" sz="1200" dirty="0">
              <a:ea typeface="Calibri"/>
              <a:cs typeface="Calibri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R$ 1.737.812,01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EXTENSÃO:  </a:t>
            </a:r>
            <a:r>
              <a:rPr lang="pt-BR" dirty="0">
                <a:latin typeface="Gotham"/>
              </a:rPr>
              <a:t>28 metros</a:t>
            </a:r>
            <a:endParaRPr lang="pt-BR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</a:rPr>
              <a:t>Concluído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92AA0540-D27A-48C5-5940-D953F7723A76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957C4C01-2D6D-B49C-071F-1444D1672D3F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598D8CC2-8954-B2EC-718B-76F8C9C99D42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3A384988-D805-0AAA-3CD9-ED59AB35205A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75/2023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C9A4BC4-3AB0-57F7-32F9-38D20F8585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D5D4A533-73FE-8580-DDBC-44837E9E5523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5255018F-AD0B-CC51-31AB-CB425464DA70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B9567E8-1586-0564-DC5E-0D1E1DB5A486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BB67199-C263-C90F-310F-6A35A4608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244" r="24244"/>
          <a:stretch/>
        </p:blipFill>
        <p:spPr>
          <a:xfrm>
            <a:off x="12934096" y="5155021"/>
            <a:ext cx="3795405" cy="378195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7F47EFC-F52B-A786-3A6B-8662005B8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291" r="26291"/>
          <a:stretch/>
        </p:blipFill>
        <p:spPr>
          <a:xfrm>
            <a:off x="12934097" y="1082771"/>
            <a:ext cx="3795405" cy="3634934"/>
          </a:xfrm>
          <a:prstGeom prst="round2DiagRect">
            <a:avLst>
              <a:gd name="adj1" fmla="val 17384"/>
              <a:gd name="adj2" fmla="val 0"/>
            </a:avLst>
          </a:prstGeom>
        </p:spPr>
      </p:pic>
    </p:spTree>
    <p:extLst>
      <p:ext uri="{BB962C8B-B14F-4D97-AF65-F5344CB8AC3E}">
        <p14:creationId xmlns:p14="http://schemas.microsoft.com/office/powerpoint/2010/main" val="1098092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3A48A-E8F3-22F7-D6CA-A3BD1AC73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FE6D8D78-1895-1AE7-AA40-9993C2693FFE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339CB158-AA56-0515-7400-3E6E8A8A1188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A0C2CFFA-DEAA-8939-7B14-C3F531F49A2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E72D0684-B8F5-D35C-D29A-231593588CFE}"/>
              </a:ext>
            </a:extLst>
          </p:cNvPr>
          <p:cNvSpPr txBox="1"/>
          <p:nvPr/>
        </p:nvSpPr>
        <p:spPr>
          <a:xfrm>
            <a:off x="5094594" y="1321922"/>
            <a:ext cx="4049406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129/2023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363C6AB5-F6ED-6950-7430-EBFCDCABEF65}"/>
              </a:ext>
            </a:extLst>
          </p:cNvPr>
          <p:cNvSpPr txBox="1"/>
          <p:nvPr/>
        </p:nvSpPr>
        <p:spPr>
          <a:xfrm>
            <a:off x="2688409" y="2900238"/>
            <a:ext cx="800389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</a:rPr>
              <a:t>Execução de obras de arte especiais, na GO-114, município de Nova Roma - GO.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R$ 3.576.441,97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28 metros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47A45C-A089-7341-8488-7429BF11C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5010" y="1045199"/>
            <a:ext cx="4059133" cy="3679884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213DB9BE-0B73-A3BF-7F5C-3A9358A84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2466" y="5004995"/>
            <a:ext cx="4131677" cy="3758956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7F63FD38-8FE6-9048-829B-D192D21FC7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38F15FF6-0B18-7A66-8E00-4DDE701015CA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51B6B95-D82D-4B9A-E307-F11D65E813BE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CD13E7-2A92-245D-2A22-1E745F8382AD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</p:spTree>
    <p:extLst>
      <p:ext uri="{BB962C8B-B14F-4D97-AF65-F5344CB8AC3E}">
        <p14:creationId xmlns:p14="http://schemas.microsoft.com/office/powerpoint/2010/main" val="2782247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C0E90-382D-8448-2A15-E9BCCC4C4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utoShape 21">
            <a:extLst>
              <a:ext uri="{FF2B5EF4-FFF2-40B4-BE49-F238E27FC236}">
                <a16:creationId xmlns:a16="http://schemas.microsoft.com/office/drawing/2014/main" id="{A8D287F5-EB57-4DAA-4D4D-7924D033D46F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7ED1780E-AAE3-0B20-F49F-7F9376B3D233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D6E3FBA7-4BBD-3A80-7DDB-6AA2F5077B0F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32F678A8-1E86-B4AF-9648-9BBBC3D720EE}"/>
              </a:ext>
            </a:extLst>
          </p:cNvPr>
          <p:cNvSpPr txBox="1"/>
          <p:nvPr/>
        </p:nvSpPr>
        <p:spPr>
          <a:xfrm>
            <a:off x="5094594" y="1321922"/>
            <a:ext cx="4049406" cy="845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</a:t>
            </a:r>
            <a:r>
              <a:rPr lang="en-US" sz="25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 </a:t>
            </a: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32/2024</a:t>
            </a:r>
          </a:p>
        </p:txBody>
      </p:sp>
      <p:sp>
        <p:nvSpPr>
          <p:cNvPr id="31" name="TextBox 5">
            <a:extLst>
              <a:ext uri="{FF2B5EF4-FFF2-40B4-BE49-F238E27FC236}">
                <a16:creationId xmlns:a16="http://schemas.microsoft.com/office/drawing/2014/main" id="{E5D28840-5028-C0C2-7AB1-C36B17CF9AFA}"/>
              </a:ext>
            </a:extLst>
          </p:cNvPr>
          <p:cNvSpPr txBox="1"/>
          <p:nvPr/>
        </p:nvSpPr>
        <p:spPr>
          <a:xfrm>
            <a:off x="2688409" y="2900238"/>
            <a:ext cx="8003890" cy="20242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latin typeface="Gotham"/>
              </a:rPr>
              <a:t>Execução de obra de arte especial, estrada vicinal </a:t>
            </a:r>
            <a:r>
              <a:rPr lang="pt-BR" dirty="0" err="1">
                <a:latin typeface="Gotham"/>
              </a:rPr>
              <a:t>entr</a:t>
            </a:r>
            <a:r>
              <a:rPr lang="pt-BR" dirty="0">
                <a:latin typeface="Gotham"/>
              </a:rPr>
              <a:t>. GO-230, município de Vila Propício.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R$ 1.340.350,55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EXTENSÃO: 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34 metros</a:t>
            </a:r>
            <a:endParaRPr lang="pt-BR" dirty="0">
              <a:solidFill>
                <a:srgbClr val="3C3C3C"/>
              </a:solidFill>
              <a:latin typeface="Gotham"/>
              <a:ea typeface="Gotham"/>
              <a:cs typeface="Gotham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latin typeface="Gotham"/>
                <a:ea typeface="Gotham"/>
                <a:cs typeface="Gotham"/>
                <a:sym typeface="Gotham"/>
              </a:rPr>
              <a:t>Concluído</a:t>
            </a:r>
            <a:endParaRPr lang="pt-BR" dirty="0">
              <a:latin typeface="Gotham"/>
              <a:ea typeface="Gotham"/>
              <a:cs typeface="Gotham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117A5742-614B-6028-3600-146214D35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1706" y="947692"/>
            <a:ext cx="3857131" cy="3701553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73F48BBF-BE02-C81C-F01E-88AC607B0B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0565" y="4864691"/>
            <a:ext cx="3857131" cy="3815438"/>
          </a:xfrm>
          <a:prstGeom prst="round2DiagRect">
            <a:avLst>
              <a:gd name="adj1" fmla="val 17384"/>
              <a:gd name="adj2" fmla="val 0"/>
            </a:avLst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0D683F0-1DE4-0667-4271-FFE907E405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18" name="Retângulo 17">
            <a:extLst>
              <a:ext uri="{FF2B5EF4-FFF2-40B4-BE49-F238E27FC236}">
                <a16:creationId xmlns:a16="http://schemas.microsoft.com/office/drawing/2014/main" id="{EF346A3C-D2E8-AFCC-9962-DC66C6654F4C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2EA0B96E-2D78-48F6-6F9A-E9D5BBA2DB9F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7C6C614-3DCA-AFAF-BD6E-D81197A9C3B8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ESPECIAL</a:t>
            </a:r>
          </a:p>
        </p:txBody>
      </p:sp>
    </p:spTree>
    <p:extLst>
      <p:ext uri="{BB962C8B-B14F-4D97-AF65-F5344CB8AC3E}">
        <p14:creationId xmlns:p14="http://schemas.microsoft.com/office/powerpoint/2010/main" val="714888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01D9D-52A2-E211-71D3-D65C5F856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2B90D421-83E9-9C2C-0F78-434387DC13F4}"/>
              </a:ext>
            </a:extLst>
          </p:cNvPr>
          <p:cNvSpPr txBox="1"/>
          <p:nvPr/>
        </p:nvSpPr>
        <p:spPr>
          <a:xfrm>
            <a:off x="2688415" y="2868142"/>
            <a:ext cx="8003890" cy="327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OBJETO: 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Execução de estruturas de obras de arte corrente (OAC) a serem implantadas em substituição de pontes de concreto armado localizadas na rodovia GO-222, em trecho compreendido no município de São Luís de Montes Belos.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</a:rPr>
              <a:t>PONTOS:</a:t>
            </a:r>
            <a:r>
              <a:rPr lang="pt-BR" dirty="0">
                <a:solidFill>
                  <a:srgbClr val="3C3C3C"/>
                </a:solidFill>
                <a:latin typeface="Gotham"/>
              </a:rPr>
              <a:t> 2 pontos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VALOR DO CONTRATO: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R$ </a:t>
            </a:r>
            <a:r>
              <a:rPr lang="pt-BR" dirty="0">
                <a:latin typeface="Gotham" panose="020B0604020202020204"/>
              </a:rPr>
              <a:t>1.730.974,38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SITUAÇÃO: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Em andamento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b="1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ESTÁGIO ATUAL: </a:t>
            </a:r>
            <a:r>
              <a:rPr lang="pt-BR" dirty="0">
                <a:solidFill>
                  <a:srgbClr val="3C3C3C"/>
                </a:solidFill>
                <a:latin typeface="Gotham"/>
                <a:ea typeface="Gotham"/>
                <a:cs typeface="Gotham"/>
                <a:sym typeface="Gotham"/>
              </a:rPr>
              <a:t>58,8%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695CF056-46B0-4FC4-F527-EC7DE7F6AF6D}"/>
              </a:ext>
            </a:extLst>
          </p:cNvPr>
          <p:cNvSpPr/>
          <p:nvPr/>
        </p:nvSpPr>
        <p:spPr>
          <a:xfrm rot="9676">
            <a:off x="11129952" y="9231561"/>
            <a:ext cx="6767538" cy="0"/>
          </a:xfrm>
          <a:prstGeom prst="line">
            <a:avLst/>
          </a:prstGeom>
          <a:ln w="9525" cap="rnd">
            <a:solidFill>
              <a:srgbClr val="2DA54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grpSp>
        <p:nvGrpSpPr>
          <p:cNvPr id="4" name="Group 18">
            <a:extLst>
              <a:ext uri="{FF2B5EF4-FFF2-40B4-BE49-F238E27FC236}">
                <a16:creationId xmlns:a16="http://schemas.microsoft.com/office/drawing/2014/main" id="{AC790D77-1F1F-82B7-E086-1075C3CF5E10}"/>
              </a:ext>
            </a:extLst>
          </p:cNvPr>
          <p:cNvGrpSpPr/>
          <p:nvPr/>
        </p:nvGrpSpPr>
        <p:grpSpPr>
          <a:xfrm>
            <a:off x="2346769" y="1231102"/>
            <a:ext cx="8345535" cy="1366567"/>
            <a:chOff x="0" y="0"/>
            <a:chExt cx="6580890" cy="182209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7A3BDC09-2987-7351-9416-62B4731E23DE}"/>
                </a:ext>
              </a:extLst>
            </p:cNvPr>
            <p:cNvSpPr/>
            <p:nvPr/>
          </p:nvSpPr>
          <p:spPr>
            <a:xfrm>
              <a:off x="0" y="0"/>
              <a:ext cx="6580886" cy="1822069"/>
            </a:xfrm>
            <a:custGeom>
              <a:avLst/>
              <a:gdLst/>
              <a:ahLst/>
              <a:cxnLst/>
              <a:rect l="l" t="t" r="r" b="b"/>
              <a:pathLst>
                <a:path w="6580886" h="1822069">
                  <a:moveTo>
                    <a:pt x="6044565" y="1822069"/>
                  </a:moveTo>
                  <a:cubicBezTo>
                    <a:pt x="0" y="1822069"/>
                    <a:pt x="0" y="1822069"/>
                    <a:pt x="0" y="1822069"/>
                  </a:cubicBezTo>
                  <a:cubicBezTo>
                    <a:pt x="0" y="669036"/>
                    <a:pt x="0" y="669036"/>
                    <a:pt x="0" y="669036"/>
                  </a:cubicBezTo>
                  <a:cubicBezTo>
                    <a:pt x="0" y="298958"/>
                    <a:pt x="243459" y="0"/>
                    <a:pt x="536321" y="0"/>
                  </a:cubicBezTo>
                  <a:cubicBezTo>
                    <a:pt x="6044565" y="0"/>
                    <a:pt x="6044565" y="0"/>
                    <a:pt x="6044565" y="0"/>
                  </a:cubicBezTo>
                  <a:cubicBezTo>
                    <a:pt x="6341237" y="0"/>
                    <a:pt x="6580886" y="298958"/>
                    <a:pt x="6580886" y="669036"/>
                  </a:cubicBezTo>
                  <a:cubicBezTo>
                    <a:pt x="6580886" y="1153033"/>
                    <a:pt x="6580886" y="1153033"/>
                    <a:pt x="6580886" y="1153033"/>
                  </a:cubicBezTo>
                  <a:cubicBezTo>
                    <a:pt x="6580886" y="1518412"/>
                    <a:pt x="6341237" y="1822069"/>
                    <a:pt x="6044565" y="1822069"/>
                  </a:cubicBezTo>
                  <a:close/>
                </a:path>
              </a:pathLst>
            </a:custGeom>
            <a:solidFill>
              <a:srgbClr val="2DA54A"/>
            </a:solidFill>
          </p:spPr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1056F27E-F1F9-96D3-5EC7-DE23A664301F}"/>
              </a:ext>
            </a:extLst>
          </p:cNvPr>
          <p:cNvSpPr txBox="1"/>
          <p:nvPr/>
        </p:nvSpPr>
        <p:spPr>
          <a:xfrm>
            <a:off x="5060622" y="1293094"/>
            <a:ext cx="3519498" cy="832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7200"/>
              </a:lnSpc>
            </a:pPr>
            <a:r>
              <a:rPr lang="en-US" sz="2000" b="1" dirty="0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CONTRATO 121/2025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AD9E7598-7DD8-E11F-3885-CC5D80371A7E}"/>
              </a:ext>
            </a:extLst>
          </p:cNvPr>
          <p:cNvGrpSpPr/>
          <p:nvPr/>
        </p:nvGrpSpPr>
        <p:grpSpPr>
          <a:xfrm>
            <a:off x="2346770" y="144177"/>
            <a:ext cx="9633195" cy="907257"/>
            <a:chOff x="0" y="0"/>
            <a:chExt cx="4908550" cy="1209676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CC0AFFD4-5A55-E23D-CF1D-F2065070790B}"/>
                </a:ext>
              </a:extLst>
            </p:cNvPr>
            <p:cNvSpPr/>
            <p:nvPr/>
          </p:nvSpPr>
          <p:spPr>
            <a:xfrm>
              <a:off x="0" y="0"/>
              <a:ext cx="4908550" cy="1209675"/>
            </a:xfrm>
            <a:custGeom>
              <a:avLst/>
              <a:gdLst/>
              <a:ahLst/>
              <a:cxnLst/>
              <a:rect l="l" t="t" r="r" b="b"/>
              <a:pathLst>
                <a:path w="4908550" h="1209675">
                  <a:moveTo>
                    <a:pt x="4305681" y="1209675"/>
                  </a:moveTo>
                  <a:cubicBezTo>
                    <a:pt x="0" y="1209675"/>
                    <a:pt x="0" y="1209675"/>
                    <a:pt x="0" y="12096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305681" y="0"/>
                    <a:pt x="4305681" y="0"/>
                    <a:pt x="4305681" y="0"/>
                  </a:cubicBezTo>
                  <a:cubicBezTo>
                    <a:pt x="4638802" y="0"/>
                    <a:pt x="4908550" y="269875"/>
                    <a:pt x="4908550" y="603250"/>
                  </a:cubicBezTo>
                  <a:cubicBezTo>
                    <a:pt x="4908550" y="1209675"/>
                    <a:pt x="4908550" y="1209675"/>
                    <a:pt x="4908550" y="1209675"/>
                  </a:cubicBezTo>
                  <a:lnTo>
                    <a:pt x="4305681" y="1209675"/>
                  </a:lnTo>
                  <a:close/>
                </a:path>
              </a:pathLst>
            </a:custGeom>
            <a:solidFill>
              <a:srgbClr val="0E9E3C"/>
            </a:solidFill>
          </p:spPr>
        </p:sp>
      </p:grpSp>
      <p:sp>
        <p:nvSpPr>
          <p:cNvPr id="19" name="TextBox 19">
            <a:extLst>
              <a:ext uri="{FF2B5EF4-FFF2-40B4-BE49-F238E27FC236}">
                <a16:creationId xmlns:a16="http://schemas.microsoft.com/office/drawing/2014/main" id="{C24C19CF-4EC7-8CC3-5629-8E6BB2066C68}"/>
              </a:ext>
            </a:extLst>
          </p:cNvPr>
          <p:cNvSpPr txBox="1"/>
          <p:nvPr/>
        </p:nvSpPr>
        <p:spPr>
          <a:xfrm>
            <a:off x="3235079" y="275171"/>
            <a:ext cx="9147425" cy="475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320"/>
              </a:lnSpc>
            </a:pPr>
            <a:r>
              <a:rPr lang="en-US" sz="2200" b="1" dirty="0">
                <a:solidFill>
                  <a:srgbClr val="FFFFFF"/>
                </a:solidFill>
                <a:latin typeface="Gotham"/>
                <a:ea typeface="Gotham"/>
                <a:cs typeface="Gotham"/>
                <a:sym typeface="Gotham"/>
              </a:rPr>
              <a:t>CONTRATO EM ANDAMENTO - OACs</a:t>
            </a:r>
          </a:p>
        </p:txBody>
      </p:sp>
      <p:grpSp>
        <p:nvGrpSpPr>
          <p:cNvPr id="20" name="Group 17">
            <a:extLst>
              <a:ext uri="{FF2B5EF4-FFF2-40B4-BE49-F238E27FC236}">
                <a16:creationId xmlns:a16="http://schemas.microsoft.com/office/drawing/2014/main" id="{69D8AFC1-E3CF-0D71-920E-9C52CD60DBDC}"/>
              </a:ext>
            </a:extLst>
          </p:cNvPr>
          <p:cNvGrpSpPr/>
          <p:nvPr/>
        </p:nvGrpSpPr>
        <p:grpSpPr>
          <a:xfrm>
            <a:off x="1944231" y="130543"/>
            <a:ext cx="904875" cy="907257"/>
            <a:chOff x="0" y="0"/>
            <a:chExt cx="1206500" cy="1209676"/>
          </a:xfrm>
        </p:grpSpPr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6A6DAAC3-A404-3C65-EFE4-FCEAC419DB01}"/>
                </a:ext>
              </a:extLst>
            </p:cNvPr>
            <p:cNvSpPr/>
            <p:nvPr/>
          </p:nvSpPr>
          <p:spPr>
            <a:xfrm>
              <a:off x="0" y="0"/>
              <a:ext cx="1206500" cy="1209675"/>
            </a:xfrm>
            <a:custGeom>
              <a:avLst/>
              <a:gdLst/>
              <a:ahLst/>
              <a:cxnLst/>
              <a:rect l="l" t="t" r="r" b="b"/>
              <a:pathLst>
                <a:path w="1206500" h="1209675">
                  <a:moveTo>
                    <a:pt x="0" y="604901"/>
                  </a:moveTo>
                  <a:cubicBezTo>
                    <a:pt x="0" y="270764"/>
                    <a:pt x="270129" y="0"/>
                    <a:pt x="603250" y="0"/>
                  </a:cubicBezTo>
                  <a:cubicBezTo>
                    <a:pt x="936371" y="0"/>
                    <a:pt x="1206500" y="270764"/>
                    <a:pt x="1206500" y="604901"/>
                  </a:cubicBezTo>
                  <a:cubicBezTo>
                    <a:pt x="1206500" y="939038"/>
                    <a:pt x="936371" y="1209675"/>
                    <a:pt x="603250" y="1209675"/>
                  </a:cubicBezTo>
                  <a:cubicBezTo>
                    <a:pt x="270129" y="1209675"/>
                    <a:pt x="0" y="938911"/>
                    <a:pt x="0" y="604901"/>
                  </a:cubicBezTo>
                  <a:close/>
                </a:path>
              </a:pathLst>
            </a:custGeom>
            <a:solidFill>
              <a:srgbClr val="FFDB05"/>
            </a:solidFill>
          </p:spPr>
        </p:sp>
      </p:grpSp>
      <p:pic>
        <p:nvPicPr>
          <p:cNvPr id="24" name="Imagem 23">
            <a:extLst>
              <a:ext uri="{FF2B5EF4-FFF2-40B4-BE49-F238E27FC236}">
                <a16:creationId xmlns:a16="http://schemas.microsoft.com/office/drawing/2014/main" id="{C039DC9B-B72D-42DA-5E91-3102A31BD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2700" y="931997"/>
            <a:ext cx="3529891" cy="39948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97C494B-3AF6-68C1-E609-37908BD57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72206" y="5105255"/>
            <a:ext cx="3529891" cy="399483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noFill/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A1015A84-70F6-0099-92FC-FBE6BDB224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5489" y="9222036"/>
            <a:ext cx="7112382" cy="1150295"/>
          </a:xfrm>
          <a:prstGeom prst="rect">
            <a:avLst/>
          </a:prstGeom>
        </p:spPr>
      </p:pic>
      <p:sp>
        <p:nvSpPr>
          <p:cNvPr id="22" name="Retângulo 21">
            <a:extLst>
              <a:ext uri="{FF2B5EF4-FFF2-40B4-BE49-F238E27FC236}">
                <a16:creationId xmlns:a16="http://schemas.microsoft.com/office/drawing/2014/main" id="{70595897-0708-FE45-D344-A54452030D48}"/>
              </a:ext>
            </a:extLst>
          </p:cNvPr>
          <p:cNvSpPr/>
          <p:nvPr/>
        </p:nvSpPr>
        <p:spPr>
          <a:xfrm>
            <a:off x="135047" y="471843"/>
            <a:ext cx="1743105" cy="8908278"/>
          </a:xfrm>
          <a:prstGeom prst="rect">
            <a:avLst/>
          </a:prstGeom>
          <a:solidFill>
            <a:srgbClr val="0E9E3C"/>
          </a:solidFill>
          <a:ln>
            <a:solidFill>
              <a:srgbClr val="00B05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65A97A7-7782-9772-2F00-369AD54E3CE3}"/>
              </a:ext>
            </a:extLst>
          </p:cNvPr>
          <p:cNvSpPr txBox="1"/>
          <p:nvPr/>
        </p:nvSpPr>
        <p:spPr>
          <a:xfrm>
            <a:off x="-189350" y="8141378"/>
            <a:ext cx="23918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OBRA DE ARTE</a:t>
            </a:r>
          </a:p>
          <a:p>
            <a:pPr algn="ctr"/>
            <a:r>
              <a:rPr lang="it-IT" sz="1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Bold"/>
                <a:ea typeface="Gotham Bold"/>
                <a:cs typeface="Gotham Bold"/>
                <a:sym typeface="Gotham Bold"/>
              </a:rPr>
              <a:t> CORRENTE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46BADE1-A6A6-8D70-9E34-032E9C32247D}"/>
              </a:ext>
            </a:extLst>
          </p:cNvPr>
          <p:cNvSpPr txBox="1"/>
          <p:nvPr/>
        </p:nvSpPr>
        <p:spPr>
          <a:xfrm>
            <a:off x="263857" y="906879"/>
            <a:ext cx="14854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it-IT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DMA</a:t>
            </a:r>
          </a:p>
          <a:p>
            <a:pPr algn="ctr"/>
            <a:r>
              <a:rPr lang="it-IT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Gotham Bold"/>
                <a:cs typeface="Arial" panose="020B0604020202020204" pitchFamily="34" charset="0"/>
                <a:sym typeface="Gotham Bold"/>
              </a:rPr>
              <a:t>Diretoria de Manutenção</a:t>
            </a:r>
          </a:p>
        </p:txBody>
      </p:sp>
    </p:spTree>
    <p:extLst>
      <p:ext uri="{BB962C8B-B14F-4D97-AF65-F5344CB8AC3E}">
        <p14:creationId xmlns:p14="http://schemas.microsoft.com/office/powerpoint/2010/main" val="3410896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D77DFEAF9D094E9A75E4137E454D23" ma:contentTypeVersion="18" ma:contentTypeDescription="Crie um novo documento." ma:contentTypeScope="" ma:versionID="40a8e43dca7963e48a2fdfb70321ef92">
  <xsd:schema xmlns:xsd="http://www.w3.org/2001/XMLSchema" xmlns:xs="http://www.w3.org/2001/XMLSchema" xmlns:p="http://schemas.microsoft.com/office/2006/metadata/properties" xmlns:ns2="4e8751e5-3848-4b34-b242-30c4c2c4c979" xmlns:ns3="601e7d48-2183-4f89-9c5e-88ac28e28b7b" targetNamespace="http://schemas.microsoft.com/office/2006/metadata/properties" ma:root="true" ma:fieldsID="6d1c990e1239846d83663518dc2c1d47" ns2:_="" ns3:_="">
    <xsd:import namespace="4e8751e5-3848-4b34-b242-30c4c2c4c979"/>
    <xsd:import namespace="601e7d48-2183-4f89-9c5e-88ac28e28b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Observa_x00e7__x00e3_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8751e5-3848-4b34-b242-30c4c2c4c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f7517e60-a805-48cd-bbb9-1677eda333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serva_x00e7__x00e3_o" ma:index="22" nillable="true" ma:displayName="Observação " ma:internalName="Observa_x00e7__x00e3_o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1e7d48-2183-4f89-9c5e-88ac28e28b7b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e8751e5-3848-4b34-b242-30c4c2c4c979">
      <Terms xmlns="http://schemas.microsoft.com/office/infopath/2007/PartnerControls"/>
    </lcf76f155ced4ddcb4097134ff3c332f>
    <Observa_x00e7__x00e3_o xmlns="4e8751e5-3848-4b34-b242-30c4c2c4c979" xsi:nil="true"/>
  </documentManagement>
</p:properties>
</file>

<file path=customXml/itemProps1.xml><?xml version="1.0" encoding="utf-8"?>
<ds:datastoreItem xmlns:ds="http://schemas.openxmlformats.org/officeDocument/2006/customXml" ds:itemID="{11A2A412-8849-494A-AD62-849C33507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9E4198-EA76-41D1-BA93-5C0E022BEA68}">
  <ds:schemaRefs>
    <ds:schemaRef ds:uri="4e8751e5-3848-4b34-b242-30c4c2c4c979"/>
    <ds:schemaRef ds:uri="601e7d48-2183-4f89-9c5e-88ac28e28b7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619BDC2-EB4D-4233-A3E2-6B24AF9BD0D0}">
  <ds:schemaRefs>
    <ds:schemaRef ds:uri="http://schemas.microsoft.com/office/infopath/2007/PartnerControls"/>
    <ds:schemaRef ds:uri="http://schemas.microsoft.com/office/2006/documentManagement/types"/>
    <ds:schemaRef ds:uri="601e7d48-2183-4f89-9c5e-88ac28e28b7b"/>
    <ds:schemaRef ds:uri="http://purl.org/dc/dcmitype/"/>
    <ds:schemaRef ds:uri="http://www.w3.org/XML/1998/namespace"/>
    <ds:schemaRef ds:uri="http://purl.org/dc/terms/"/>
    <ds:schemaRef ds:uri="http://purl.org/dc/elements/1.1/"/>
    <ds:schemaRef ds:uri="4e8751e5-3848-4b34-b242-30c4c2c4c979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22350</TotalTime>
  <Words>556</Words>
  <Application>Microsoft Office PowerPoint</Application>
  <PresentationFormat>Personalizar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Calibri</vt:lpstr>
      <vt:lpstr>Gotham Light</vt:lpstr>
      <vt:lpstr>Gotham</vt:lpstr>
      <vt:lpstr>Arial</vt:lpstr>
      <vt:lpstr>Gotham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Cópia de Apresentação - Governo Goiás</dc:title>
  <dc:creator>Maykell Mendes Guimaraes</dc:creator>
  <cp:lastModifiedBy>Lucas Nogueira Lopes</cp:lastModifiedBy>
  <cp:revision>150</cp:revision>
  <dcterms:created xsi:type="dcterms:W3CDTF">2006-08-16T00:00:00Z</dcterms:created>
  <dcterms:modified xsi:type="dcterms:W3CDTF">2026-07-21T18:09:52Z</dcterms:modified>
  <dc:identifier>DAGdyuBx1aE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0x010100AFD77DFEAF9D094E9A75E4137E454D23</vt:lpwstr>
  </property>
  <property fmtid="{D5CDD505-2E9C-101B-9397-08002B2CF9AE}" pid="3" name="MediaServiceImageTags">
    <vt:lpwstr/>
  </property>
  <property fmtid="{D5CDD505-2E9C-101B-9397-08002B2CF9AE}" pid="4" name="JullianaGentil">
    <vt:lpwstr/>
  </property>
</Properties>
</file>