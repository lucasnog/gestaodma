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3"/>
  </p:notesMasterIdLst>
  <p:sldIdLst>
    <p:sldId id="593" r:id="rId5"/>
    <p:sldId id="549" r:id="rId6"/>
    <p:sldId id="550" r:id="rId7"/>
    <p:sldId id="618" r:id="rId8"/>
    <p:sldId id="617" r:id="rId9"/>
    <p:sldId id="619" r:id="rId10"/>
    <p:sldId id="611" r:id="rId11"/>
    <p:sldId id="612" r:id="rId12"/>
  </p:sldIdLst>
  <p:sldSz cx="18288000" cy="10287000"/>
  <p:notesSz cx="6858000" cy="9144000"/>
  <p:embeddedFontLst>
    <p:embeddedFont>
      <p:font typeface="Gotham" panose="020B0604020202020204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rick Esteves" initials="" lastIdx="4" clrIdx="0">
    <p:extLst>
      <p:ext uri="{19B8F6BF-5375-455C-9EA6-DF929625EA0E}">
        <p15:presenceInfo xmlns:p15="http://schemas.microsoft.com/office/powerpoint/2012/main" userId="S::erick.esteves@gestaodma.com.br::553c7fd5-ff97-48fc-a7e2-fca936a1ced7" providerId="AD"/>
      </p:ext>
    </p:extLst>
  </p:cmAuthor>
  <p:cmAuthor id="2" name="Carlos Eduardo da Silva Duarte" initials="CE" lastIdx="2" clrIdx="1">
    <p:extLst>
      <p:ext uri="{19B8F6BF-5375-455C-9EA6-DF929625EA0E}">
        <p15:presenceInfo xmlns:p15="http://schemas.microsoft.com/office/powerpoint/2012/main" userId="S::carlos.sduarte@fornecedores.goias.gov.br::5f8f9a9f-adf7-4680-a019-47e3a6423b3a" providerId="AD"/>
      </p:ext>
    </p:extLst>
  </p:cmAuthor>
  <p:cmAuthor id="3" name="Ana Luísa Neves" initials="AN" lastIdx="1" clrIdx="2">
    <p:extLst>
      <p:ext uri="{19B8F6BF-5375-455C-9EA6-DF929625EA0E}">
        <p15:presenceInfo xmlns:p15="http://schemas.microsoft.com/office/powerpoint/2012/main" userId="S::ana.nabreu_outlook.com#ext#@consorciogerenciadordma.onmicrosoft.com::4de49deb-56eb-4b2c-8912-3efcae8a50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9E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162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notesMaster" Target="notesMasters/notesMaster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commentAuthors" Target="commentAuthors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Nogueira Lopes" userId="b4794c58-b96d-4e49-8f1f-2dabfe8a9e6e" providerId="ADAL" clId="{816383E1-CDCA-4CC2-B79A-A3F515FC65D6}"/>
    <pc:docChg chg="custSel addSld delSld modSld">
      <pc:chgData name="Lucas Nogueira Lopes" userId="b4794c58-b96d-4e49-8f1f-2dabfe8a9e6e" providerId="ADAL" clId="{816383E1-CDCA-4CC2-B79A-A3F515FC65D6}" dt="2026-07-21T19:16:43.210" v="97" actId="20577"/>
      <pc:docMkLst>
        <pc:docMk/>
      </pc:docMkLst>
      <pc:sldChg chg="modSp mod">
        <pc:chgData name="Lucas Nogueira Lopes" userId="b4794c58-b96d-4e49-8f1f-2dabfe8a9e6e" providerId="ADAL" clId="{816383E1-CDCA-4CC2-B79A-A3F515FC65D6}" dt="2026-07-21T19:16:43.210" v="97" actId="20577"/>
        <pc:sldMkLst>
          <pc:docMk/>
          <pc:sldMk cId="3859988573" sldId="593"/>
        </pc:sldMkLst>
        <pc:spChg chg="mod">
          <ac:chgData name="Lucas Nogueira Lopes" userId="b4794c58-b96d-4e49-8f1f-2dabfe8a9e6e" providerId="ADAL" clId="{816383E1-CDCA-4CC2-B79A-A3F515FC65D6}" dt="2026-07-21T19:16:43.210" v="97" actId="20577"/>
          <ac:spMkLst>
            <pc:docMk/>
            <pc:sldMk cId="3859988573" sldId="593"/>
            <ac:spMk id="6" creationId="{2AB7801E-E3DC-744E-CF83-74D4CAA01C0E}"/>
          </ac:spMkLst>
        </pc:spChg>
      </pc:sldChg>
      <pc:sldChg chg="addSp delSp modSp add mod">
        <pc:chgData name="Lucas Nogueira Lopes" userId="b4794c58-b96d-4e49-8f1f-2dabfe8a9e6e" providerId="ADAL" clId="{816383E1-CDCA-4CC2-B79A-A3F515FC65D6}" dt="2026-07-13T19:33:44.245" v="86" actId="478"/>
        <pc:sldMkLst>
          <pc:docMk/>
          <pc:sldMk cId="219325538" sldId="618"/>
        </pc:sldMkLst>
        <pc:spChg chg="mod">
          <ac:chgData name="Lucas Nogueira Lopes" userId="b4794c58-b96d-4e49-8f1f-2dabfe8a9e6e" providerId="ADAL" clId="{816383E1-CDCA-4CC2-B79A-A3F515FC65D6}" dt="2026-07-13T19:30:47.864" v="83"/>
          <ac:spMkLst>
            <pc:docMk/>
            <pc:sldMk cId="219325538" sldId="618"/>
            <ac:spMk id="11" creationId="{2DC281C8-CC6E-4ABB-2C20-92D0DFC69FB1}"/>
          </ac:spMkLst>
        </pc:spChg>
        <pc:spChg chg="mod">
          <ac:chgData name="Lucas Nogueira Lopes" userId="b4794c58-b96d-4e49-8f1f-2dabfe8a9e6e" providerId="ADAL" clId="{816383E1-CDCA-4CC2-B79A-A3F515FC65D6}" dt="2026-07-13T19:30:47.864" v="83"/>
          <ac:spMkLst>
            <pc:docMk/>
            <pc:sldMk cId="219325538" sldId="618"/>
            <ac:spMk id="13" creationId="{14B33DB5-2002-CEA9-5A77-945CB06EEB00}"/>
          </ac:spMkLst>
        </pc:spChg>
        <pc:spChg chg="add mod">
          <ac:chgData name="Lucas Nogueira Lopes" userId="b4794c58-b96d-4e49-8f1f-2dabfe8a9e6e" providerId="ADAL" clId="{816383E1-CDCA-4CC2-B79A-A3F515FC65D6}" dt="2026-07-13T19:30:47.864" v="83"/>
          <ac:spMkLst>
            <pc:docMk/>
            <pc:sldMk cId="219325538" sldId="618"/>
            <ac:spMk id="14" creationId="{B3B628C4-0760-44BF-1D04-AFF6F4C91DC7}"/>
          </ac:spMkLst>
        </pc:spChg>
        <pc:spChg chg="mod">
          <ac:chgData name="Lucas Nogueira Lopes" userId="b4794c58-b96d-4e49-8f1f-2dabfe8a9e6e" providerId="ADAL" clId="{816383E1-CDCA-4CC2-B79A-A3F515FC65D6}" dt="2026-07-13T19:23:04.747" v="74"/>
          <ac:spMkLst>
            <pc:docMk/>
            <pc:sldMk cId="219325538" sldId="618"/>
            <ac:spMk id="34" creationId="{72BF449E-91E8-82EF-1FF7-E7DAC06942ED}"/>
          </ac:spMkLst>
        </pc:spChg>
        <pc:spChg chg="mod">
          <ac:chgData name="Lucas Nogueira Lopes" userId="b4794c58-b96d-4e49-8f1f-2dabfe8a9e6e" providerId="ADAL" clId="{816383E1-CDCA-4CC2-B79A-A3F515FC65D6}" dt="2026-07-13T19:33:40.343" v="85" actId="14100"/>
          <ac:spMkLst>
            <pc:docMk/>
            <pc:sldMk cId="219325538" sldId="618"/>
            <ac:spMk id="37" creationId="{C857BF9A-0B6B-176A-E051-40AF915BD76B}"/>
          </ac:spMkLst>
        </pc:spChg>
        <pc:grpChg chg="add mod">
          <ac:chgData name="Lucas Nogueira Lopes" userId="b4794c58-b96d-4e49-8f1f-2dabfe8a9e6e" providerId="ADAL" clId="{816383E1-CDCA-4CC2-B79A-A3F515FC65D6}" dt="2026-07-13T19:30:47.864" v="83"/>
          <ac:grpSpMkLst>
            <pc:docMk/>
            <pc:sldMk cId="219325538" sldId="618"/>
            <ac:grpSpMk id="5" creationId="{0B6D9CDF-A4AA-7FC6-F54D-6FA0CB794DDD}"/>
          </ac:grpSpMkLst>
        </pc:grpChg>
        <pc:grpChg chg="add mod">
          <ac:chgData name="Lucas Nogueira Lopes" userId="b4794c58-b96d-4e49-8f1f-2dabfe8a9e6e" providerId="ADAL" clId="{816383E1-CDCA-4CC2-B79A-A3F515FC65D6}" dt="2026-07-13T19:30:47.864" v="83"/>
          <ac:grpSpMkLst>
            <pc:docMk/>
            <pc:sldMk cId="219325538" sldId="618"/>
            <ac:grpSpMk id="12" creationId="{24AD079F-5CC9-9059-59C9-EAEF0489C4A0}"/>
          </ac:grpSpMkLst>
        </pc:grpChg>
      </pc:sldChg>
    </pc:docChg>
  </pc:docChgLst>
  <pc:docChgLst>
    <pc:chgData name="Fernando Lucas da Silva" userId="S::fernando.lsilva@fornecedores.goias.gov.br::4aa7c1a5-eb38-4102-a74c-b2db1fc1a0bf" providerId="AD" clId="Web-{549B6ADF-3CB3-1E23-6042-DCE08CEBB92A}"/>
    <pc:docChg chg="modSld">
      <pc:chgData name="Fernando Lucas da Silva" userId="S::fernando.lsilva@fornecedores.goias.gov.br::4aa7c1a5-eb38-4102-a74c-b2db1fc1a0bf" providerId="AD" clId="Web-{549B6ADF-3CB3-1E23-6042-DCE08CEBB92A}" dt="2026-07-14T13:00:36.681" v="116" actId="20577"/>
      <pc:docMkLst>
        <pc:docMk/>
      </pc:docMkLst>
      <pc:sldChg chg="modSp">
        <pc:chgData name="Fernando Lucas da Silva" userId="S::fernando.lsilva@fornecedores.goias.gov.br::4aa7c1a5-eb38-4102-a74c-b2db1fc1a0bf" providerId="AD" clId="Web-{549B6ADF-3CB3-1E23-6042-DCE08CEBB92A}" dt="2026-07-14T13:00:36.681" v="116" actId="20577"/>
        <pc:sldMkLst>
          <pc:docMk/>
          <pc:sldMk cId="3859988573" sldId="593"/>
        </pc:sldMkLst>
        <pc:spChg chg="mod">
          <ac:chgData name="Fernando Lucas da Silva" userId="S::fernando.lsilva@fornecedores.goias.gov.br::4aa7c1a5-eb38-4102-a74c-b2db1fc1a0bf" providerId="AD" clId="Web-{549B6ADF-3CB3-1E23-6042-DCE08CEBB92A}" dt="2026-07-14T13:00:36.681" v="116" actId="20577"/>
          <ac:spMkLst>
            <pc:docMk/>
            <pc:sldMk cId="3859988573" sldId="593"/>
            <ac:spMk id="13" creationId="{A21298E6-28CF-C643-C9AD-01A8DEFD5788}"/>
          </ac:spMkLst>
        </pc:spChg>
        <pc:spChg chg="mod">
          <ac:chgData name="Fernando Lucas da Silva" userId="S::fernando.lsilva@fornecedores.goias.gov.br::4aa7c1a5-eb38-4102-a74c-b2db1fc1a0bf" providerId="AD" clId="Web-{549B6ADF-3CB3-1E23-6042-DCE08CEBB92A}" dt="2026-07-14T12:43:47.467" v="67" actId="20577"/>
          <ac:spMkLst>
            <pc:docMk/>
            <pc:sldMk cId="3859988573" sldId="593"/>
            <ac:spMk id="14" creationId="{6E22E716-315A-C33C-675F-992FF8A68F7F}"/>
          </ac:spMkLst>
        </pc:spChg>
        <pc:spChg chg="mod">
          <ac:chgData name="Fernando Lucas da Silva" userId="S::fernando.lsilva@fornecedores.goias.gov.br::4aa7c1a5-eb38-4102-a74c-b2db1fc1a0bf" providerId="AD" clId="Web-{549B6ADF-3CB3-1E23-6042-DCE08CEBB92A}" dt="2026-07-14T12:58:12.910" v="114" actId="20577"/>
          <ac:spMkLst>
            <pc:docMk/>
            <pc:sldMk cId="3859988573" sldId="593"/>
            <ac:spMk id="18" creationId="{6CD58835-3B0C-43A3-714F-D22922917C1E}"/>
          </ac:spMkLst>
        </pc:spChg>
      </pc:sldChg>
      <pc:sldChg chg="addSp delSp modSp">
        <pc:chgData name="Fernando Lucas da Silva" userId="S::fernando.lsilva@fornecedores.goias.gov.br::4aa7c1a5-eb38-4102-a74c-b2db1fc1a0bf" providerId="AD" clId="Web-{549B6ADF-3CB3-1E23-6042-DCE08CEBB92A}" dt="2026-07-14T12:18:33.121" v="30" actId="20577"/>
        <pc:sldMkLst>
          <pc:docMk/>
          <pc:sldMk cId="4183776178" sldId="612"/>
        </pc:sldMkLst>
        <pc:spChg chg="mod">
          <ac:chgData name="Fernando Lucas da Silva" userId="S::fernando.lsilva@fornecedores.goias.gov.br::4aa7c1a5-eb38-4102-a74c-b2db1fc1a0bf" providerId="AD" clId="Web-{549B6ADF-3CB3-1E23-6042-DCE08CEBB92A}" dt="2026-07-14T12:18:33.121" v="30" actId="20577"/>
          <ac:spMkLst>
            <pc:docMk/>
            <pc:sldMk cId="4183776178" sldId="612"/>
            <ac:spMk id="5" creationId="{2B71315D-7224-70F7-E011-A475A18A6055}"/>
          </ac:spMkLst>
        </pc:spChg>
        <pc:spChg chg="mod">
          <ac:chgData name="Fernando Lucas da Silva" userId="S::fernando.lsilva@fornecedores.goias.gov.br::4aa7c1a5-eb38-4102-a74c-b2db1fc1a0bf" providerId="AD" clId="Web-{549B6ADF-3CB3-1E23-6042-DCE08CEBB92A}" dt="2026-07-14T12:16:29.788" v="25" actId="20577"/>
          <ac:spMkLst>
            <pc:docMk/>
            <pc:sldMk cId="4183776178" sldId="612"/>
            <ac:spMk id="20" creationId="{B9257089-A1D3-5B92-3E07-437A7933703E}"/>
          </ac:spMkLst>
        </pc:spChg>
        <pc:spChg chg="add mod">
          <ac:chgData name="Fernando Lucas da Silva" userId="S::fernando.lsilva@fornecedores.goias.gov.br::4aa7c1a5-eb38-4102-a74c-b2db1fc1a0bf" providerId="AD" clId="Web-{549B6ADF-3CB3-1E23-6042-DCE08CEBB92A}" dt="2026-07-14T12:15:55.646" v="21" actId="20577"/>
          <ac:spMkLst>
            <pc:docMk/>
            <pc:sldMk cId="4183776178" sldId="612"/>
            <ac:spMk id="27" creationId="{111DC6A8-8616-21AE-6FE5-16C5B25AAE66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21.07.2026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EF29D-03A6-30AC-477A-1E885B1AC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508E7CF-CAF8-147C-2154-83709ADA489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F7454E-DC5C-3073-E9B9-B8CDBE84BAE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C696455-AB68-BB10-CA80-0237067D5E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CDA70BD-B94B-FE04-2874-7D28530EAB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5E1A3E-279B-B985-A335-996791D4C7C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F46D0-B13A-DA8A-F1A3-377646598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1662478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A7EC3-AD67-5149-752A-8073E68D2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EBA13C1D-4052-ECA6-67F2-18A9B8D7B99F}"/>
              </a:ext>
            </a:extLst>
          </p:cNvPr>
          <p:cNvSpPr/>
          <p:nvPr/>
        </p:nvSpPr>
        <p:spPr>
          <a:xfrm rot="-5400000">
            <a:off x="5152519" y="10028"/>
            <a:ext cx="10288011" cy="10267949"/>
          </a:xfrm>
          <a:custGeom>
            <a:avLst/>
            <a:gdLst/>
            <a:ahLst/>
            <a:cxnLst/>
            <a:rect l="l" t="t" r="r" b="b"/>
            <a:pathLst>
              <a:path w="10288011" h="15430499">
                <a:moveTo>
                  <a:pt x="0" y="0"/>
                </a:moveTo>
                <a:lnTo>
                  <a:pt x="10288012" y="0"/>
                </a:lnTo>
                <a:lnTo>
                  <a:pt x="10288012" y="15430499"/>
                </a:lnTo>
                <a:lnTo>
                  <a:pt x="0" y="154304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-5" r="-5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F840F56-0C6D-9F89-ED20-A1936CBFF3D2}"/>
              </a:ext>
            </a:extLst>
          </p:cNvPr>
          <p:cNvGrpSpPr/>
          <p:nvPr/>
        </p:nvGrpSpPr>
        <p:grpSpPr>
          <a:xfrm>
            <a:off x="5161504" y="0"/>
            <a:ext cx="13125450" cy="10287000"/>
            <a:chOff x="0" y="0"/>
            <a:chExt cx="175006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3F9551B-6F52-630B-C891-F15636ECB6E7}"/>
                </a:ext>
              </a:extLst>
            </p:cNvPr>
            <p:cNvSpPr/>
            <p:nvPr/>
          </p:nvSpPr>
          <p:spPr>
            <a:xfrm>
              <a:off x="0" y="0"/>
              <a:ext cx="17500600" cy="13716000"/>
            </a:xfrm>
            <a:custGeom>
              <a:avLst/>
              <a:gdLst/>
              <a:ahLst/>
              <a:cxnLst/>
              <a:rect l="l" t="t" r="r" b="b"/>
              <a:pathLst>
                <a:path w="17500600" h="13716000">
                  <a:moveTo>
                    <a:pt x="0" y="0"/>
                  </a:moveTo>
                  <a:lnTo>
                    <a:pt x="17500600" y="0"/>
                  </a:lnTo>
                  <a:lnTo>
                    <a:pt x="17500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2AB7801E-E3DC-744E-CF83-74D4CAA01C0E}"/>
              </a:ext>
            </a:extLst>
          </p:cNvPr>
          <p:cNvSpPr txBox="1"/>
          <p:nvPr/>
        </p:nvSpPr>
        <p:spPr>
          <a:xfrm>
            <a:off x="6458508" y="3729055"/>
            <a:ext cx="6060114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3600" dirty="0">
                <a:solidFill>
                  <a:srgbClr val="00B050"/>
                </a:solidFill>
                <a:latin typeface="Gotham"/>
                <a:ea typeface="Gotham"/>
                <a:cs typeface="Gotham"/>
                <a:sym typeface="Gotham"/>
              </a:rPr>
              <a:t>CONTRATOS DIVERSOS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8D5BE39-B196-874C-F886-A27A5027AD9C}"/>
              </a:ext>
            </a:extLst>
          </p:cNvPr>
          <p:cNvSpPr txBox="1"/>
          <p:nvPr/>
        </p:nvSpPr>
        <p:spPr>
          <a:xfrm>
            <a:off x="6325444" y="-597037"/>
            <a:ext cx="6060114" cy="460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20"/>
              </a:lnSpc>
            </a:pPr>
            <a:r>
              <a:rPr lang="en-US" sz="29850">
                <a:solidFill>
                  <a:srgbClr val="2DA54A"/>
                </a:solidFill>
                <a:latin typeface="Gotham Light"/>
                <a:ea typeface="Gotham Light"/>
                <a:cs typeface="Gotham Light"/>
                <a:sym typeface="Gotham Light"/>
              </a:rPr>
              <a:t>14.</a:t>
            </a:r>
          </a:p>
        </p:txBody>
      </p:sp>
      <p:grpSp>
        <p:nvGrpSpPr>
          <p:cNvPr id="15" name="Group 9">
            <a:extLst>
              <a:ext uri="{FF2B5EF4-FFF2-40B4-BE49-F238E27FC236}">
                <a16:creationId xmlns:a16="http://schemas.microsoft.com/office/drawing/2014/main" id="{C68AFAD7-99D1-C318-1B2C-1329B03DE439}"/>
              </a:ext>
            </a:extLst>
          </p:cNvPr>
          <p:cNvGrpSpPr/>
          <p:nvPr/>
        </p:nvGrpSpPr>
        <p:grpSpPr>
          <a:xfrm>
            <a:off x="7144245" y="5744379"/>
            <a:ext cx="2812677" cy="3028750"/>
            <a:chOff x="0" y="0"/>
            <a:chExt cx="4019550" cy="4092576"/>
          </a:xfrm>
        </p:grpSpPr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B2FC5470-2340-C528-CC1D-3597232CBAA6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17" name="TextBox 11">
              <a:extLst>
                <a:ext uri="{FF2B5EF4-FFF2-40B4-BE49-F238E27FC236}">
                  <a16:creationId xmlns:a16="http://schemas.microsoft.com/office/drawing/2014/main" id="{C91515CA-7EEC-A5F0-AC01-85E429BBCDD5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grpSp>
        <p:nvGrpSpPr>
          <p:cNvPr id="19" name="Group 9">
            <a:extLst>
              <a:ext uri="{FF2B5EF4-FFF2-40B4-BE49-F238E27FC236}">
                <a16:creationId xmlns:a16="http://schemas.microsoft.com/office/drawing/2014/main" id="{9F3D28FB-DE52-ED3C-FEC0-3C2D6B0ED16F}"/>
              </a:ext>
            </a:extLst>
          </p:cNvPr>
          <p:cNvGrpSpPr/>
          <p:nvPr/>
        </p:nvGrpSpPr>
        <p:grpSpPr>
          <a:xfrm>
            <a:off x="10347879" y="5744378"/>
            <a:ext cx="2812677" cy="3028750"/>
            <a:chOff x="0" y="0"/>
            <a:chExt cx="4019550" cy="4092576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CF8E2B38-8FD8-2F5C-7F27-113D0499DB77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6A5DF84E-95E0-7300-6800-B20324A5DFF4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sp>
        <p:nvSpPr>
          <p:cNvPr id="22" name="TextBox 26">
            <a:extLst>
              <a:ext uri="{FF2B5EF4-FFF2-40B4-BE49-F238E27FC236}">
                <a16:creationId xmlns:a16="http://schemas.microsoft.com/office/drawing/2014/main" id="{79B93767-F06F-6541-7207-9F9E72E7F569}"/>
              </a:ext>
            </a:extLst>
          </p:cNvPr>
          <p:cNvSpPr txBox="1"/>
          <p:nvPr/>
        </p:nvSpPr>
        <p:spPr>
          <a:xfrm>
            <a:off x="10531160" y="6892392"/>
            <a:ext cx="2470678" cy="535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endParaRPr/>
          </a:p>
          <a:p>
            <a:pPr algn="l">
              <a:lnSpc>
                <a:spcPts val="2160"/>
              </a:lnSpc>
              <a:spcBef>
                <a:spcPct val="0"/>
              </a:spcBef>
            </a:pPr>
            <a:endParaRPr lang="en-US" sz="1800">
              <a:solidFill>
                <a:srgbClr val="FFFFFF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grpSp>
        <p:nvGrpSpPr>
          <p:cNvPr id="23" name="Group 9">
            <a:extLst>
              <a:ext uri="{FF2B5EF4-FFF2-40B4-BE49-F238E27FC236}">
                <a16:creationId xmlns:a16="http://schemas.microsoft.com/office/drawing/2014/main" id="{5962B8EA-378B-8BA8-1701-334710436874}"/>
              </a:ext>
            </a:extLst>
          </p:cNvPr>
          <p:cNvGrpSpPr/>
          <p:nvPr/>
        </p:nvGrpSpPr>
        <p:grpSpPr>
          <a:xfrm>
            <a:off x="13551513" y="5744378"/>
            <a:ext cx="2812677" cy="3028750"/>
            <a:chOff x="0" y="0"/>
            <a:chExt cx="4019550" cy="4092576"/>
          </a:xfrm>
        </p:grpSpPr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BCCCFE64-4959-697D-0881-FEF4DB0C4BA9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25" name="TextBox 11">
              <a:extLst>
                <a:ext uri="{FF2B5EF4-FFF2-40B4-BE49-F238E27FC236}">
                  <a16:creationId xmlns:a16="http://schemas.microsoft.com/office/drawing/2014/main" id="{2529E087-2821-7C6C-7842-8C87C6DB8E7F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sp>
        <p:nvSpPr>
          <p:cNvPr id="26" name="TextBox 26">
            <a:extLst>
              <a:ext uri="{FF2B5EF4-FFF2-40B4-BE49-F238E27FC236}">
                <a16:creationId xmlns:a16="http://schemas.microsoft.com/office/drawing/2014/main" id="{927CB6A3-9ACE-2D7E-F95A-2B37553CAD8F}"/>
              </a:ext>
            </a:extLst>
          </p:cNvPr>
          <p:cNvSpPr txBox="1"/>
          <p:nvPr/>
        </p:nvSpPr>
        <p:spPr>
          <a:xfrm>
            <a:off x="13734794" y="6710986"/>
            <a:ext cx="2470678" cy="535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endParaRPr/>
          </a:p>
          <a:p>
            <a:pPr algn="l">
              <a:lnSpc>
                <a:spcPts val="2160"/>
              </a:lnSpc>
              <a:spcBef>
                <a:spcPct val="0"/>
              </a:spcBef>
            </a:pPr>
            <a:endParaRPr lang="en-US" sz="1800">
              <a:solidFill>
                <a:srgbClr val="FFFFFF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F8EE394-C710-A833-99EB-203372E3C1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13" name="TextBox 26">
            <a:extLst>
              <a:ext uri="{FF2B5EF4-FFF2-40B4-BE49-F238E27FC236}">
                <a16:creationId xmlns:a16="http://schemas.microsoft.com/office/drawing/2014/main" id="{A21298E6-28CF-C643-C9AD-01A8DEFD5788}"/>
              </a:ext>
            </a:extLst>
          </p:cNvPr>
          <p:cNvSpPr txBox="1"/>
          <p:nvPr/>
        </p:nvSpPr>
        <p:spPr>
          <a:xfrm>
            <a:off x="7315244" y="6750718"/>
            <a:ext cx="2470678" cy="819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endParaRPr lang="en-US" b="1" dirty="0">
              <a:solidFill>
                <a:srgbClr val="FFFFFF"/>
              </a:solidFill>
              <a:latin typeface="Gotham"/>
            </a:endParaRPr>
          </a:p>
          <a:p>
            <a:pPr algn="ctr">
              <a:lnSpc>
                <a:spcPts val="2160"/>
              </a:lnSpc>
            </a:pPr>
            <a:r>
              <a:rPr lang="en-US" b="1" dirty="0">
                <a:solidFill>
                  <a:srgbClr val="FFFFFF"/>
                </a:solidFill>
                <a:latin typeface="Gotham"/>
              </a:rPr>
              <a:t>122 SERVIÇOS EXECUTADOS</a:t>
            </a:r>
            <a:endParaRPr lang="en-US" sz="1800" b="1" dirty="0">
              <a:solidFill>
                <a:srgbClr val="FFFFFF"/>
              </a:solidFill>
              <a:latin typeface="Gotham"/>
              <a:ea typeface="Gotham"/>
              <a:cs typeface="Gotham"/>
            </a:endParaRPr>
          </a:p>
        </p:txBody>
      </p:sp>
      <p:sp>
        <p:nvSpPr>
          <p:cNvPr id="14" name="TextBox 26">
            <a:extLst>
              <a:ext uri="{FF2B5EF4-FFF2-40B4-BE49-F238E27FC236}">
                <a16:creationId xmlns:a16="http://schemas.microsoft.com/office/drawing/2014/main" id="{6E22E716-315A-C33C-675F-992FF8A68F7F}"/>
              </a:ext>
            </a:extLst>
          </p:cNvPr>
          <p:cNvSpPr txBox="1"/>
          <p:nvPr/>
        </p:nvSpPr>
        <p:spPr>
          <a:xfrm>
            <a:off x="10552529" y="6710986"/>
            <a:ext cx="2470678" cy="819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endParaRPr dirty="0"/>
          </a:p>
          <a:p>
            <a:pPr algn="ctr">
              <a:lnSpc>
                <a:spcPts val="2160"/>
              </a:lnSpc>
            </a:pPr>
            <a:r>
              <a:rPr lang="en-US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07 MUNÍCIPIOS CONTEMPLADOS</a:t>
            </a:r>
            <a:endParaRPr lang="en-US" sz="1800" dirty="0">
              <a:solidFill>
                <a:srgbClr val="FFFFFF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id="{6CD58835-3B0C-43A3-714F-D22922917C1E}"/>
              </a:ext>
            </a:extLst>
          </p:cNvPr>
          <p:cNvSpPr txBox="1"/>
          <p:nvPr/>
        </p:nvSpPr>
        <p:spPr>
          <a:xfrm>
            <a:off x="13722512" y="6877612"/>
            <a:ext cx="2470678" cy="1101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pt-BR" b="1" dirty="0">
                <a:solidFill>
                  <a:schemeClr val="bg1"/>
                </a:solidFill>
                <a:latin typeface="Gotham"/>
                <a:ea typeface="Gotham"/>
                <a:cs typeface="Gotham"/>
                <a:sym typeface="Gotham"/>
              </a:rPr>
              <a:t>VALOR TOTAL </a:t>
            </a:r>
            <a:r>
              <a:rPr lang="pt-BR" b="1" dirty="0">
                <a:solidFill>
                  <a:schemeClr val="bg1"/>
                </a:solidFill>
                <a:latin typeface="Gotham"/>
                <a:sym typeface="Gotham"/>
              </a:rPr>
              <a:t>CONTRATADO:</a:t>
            </a:r>
          </a:p>
          <a:p>
            <a:pPr algn="ctr">
              <a:lnSpc>
                <a:spcPts val="2160"/>
              </a:lnSpc>
            </a:pPr>
            <a:r>
              <a:rPr lang="en-US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R$ 142.160.995,16</a:t>
            </a:r>
          </a:p>
          <a:p>
            <a:pPr algn="ctr">
              <a:lnSpc>
                <a:spcPts val="2160"/>
              </a:lnSpc>
            </a:pPr>
            <a:endParaRPr lang="en-US" b="1" dirty="0">
              <a:solidFill>
                <a:srgbClr val="FFFFFF"/>
              </a:solidFill>
              <a:latin typeface="Gotham"/>
              <a:ea typeface="Gotham"/>
              <a:cs typeface="Gotham"/>
            </a:endParaRPr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F3D87C59-9202-5213-D43D-C7C5D887F6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61"/>
          <a:stretch>
            <a:fillRect/>
          </a:stretch>
        </p:blipFill>
        <p:spPr>
          <a:xfrm>
            <a:off x="-6292481" y="6182"/>
            <a:ext cx="11585506" cy="1028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988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0ACB0-1801-40FD-B26E-15086E412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9BD96698-088A-8202-1F25-A9913F3789EC}"/>
              </a:ext>
            </a:extLst>
          </p:cNvPr>
          <p:cNvSpPr txBox="1"/>
          <p:nvPr/>
        </p:nvSpPr>
        <p:spPr>
          <a:xfrm>
            <a:off x="2688415" y="2868142"/>
            <a:ext cx="8003890" cy="2573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OBJETO: </a:t>
            </a:r>
            <a:r>
              <a:rPr lang="pt-BR">
                <a:latin typeface="Gotham" panose="020B0604020202020204"/>
              </a:rPr>
              <a:t>Prestação de serviços técnicos especializados de gerenciamento no âmbito da Diretoria de Manutenção (DMA).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VALOR DO CONTRATO: </a:t>
            </a:r>
            <a:r>
              <a:rPr lang="pt-BR">
                <a:solidFill>
                  <a:srgbClr val="3C3C3C"/>
                </a:solidFill>
                <a:latin typeface="Gotham"/>
                <a:sym typeface="Gotham"/>
              </a:rPr>
              <a:t>R$ 105.609.645,64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SITUAÇÃO: </a:t>
            </a:r>
            <a:r>
              <a:rPr lang="pt-BR">
                <a:solidFill>
                  <a:srgbClr val="3C3C3C"/>
                </a:solidFill>
                <a:latin typeface="Gotham"/>
                <a:sym typeface="Gotham"/>
              </a:rPr>
              <a:t>Em andamento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ESTÁGIO ATUAL: </a:t>
            </a:r>
            <a:r>
              <a:rPr lang="pt-BR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64%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pt-BR" sz="195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D5986085-0DC1-F1B3-B5F2-93406EAF362F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A5909FF1-BD5E-B563-EB1A-01DFAD0133FD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AB984EC9-EBE5-C3B1-A79A-D523064A619D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D111B53-2012-8A4D-4693-3551911B8A48}"/>
              </a:ext>
            </a:extLst>
          </p:cNvPr>
          <p:cNvSpPr txBox="1"/>
          <p:nvPr/>
        </p:nvSpPr>
        <p:spPr>
          <a:xfrm>
            <a:off x="5060622" y="1293094"/>
            <a:ext cx="3519498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61/2023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F2AA3F2C-17AA-D5B9-A977-B338527C9F4C}"/>
              </a:ext>
            </a:extLst>
          </p:cNvPr>
          <p:cNvGrpSpPr/>
          <p:nvPr/>
        </p:nvGrpSpPr>
        <p:grpSpPr>
          <a:xfrm>
            <a:off x="2346770" y="144177"/>
            <a:ext cx="9633195" cy="907257"/>
            <a:chOff x="0" y="0"/>
            <a:chExt cx="4908550" cy="1209676"/>
          </a:xfrm>
        </p:grpSpPr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0410162E-3B40-FE7D-6130-856517B80DD2}"/>
                </a:ext>
              </a:extLst>
            </p:cNvPr>
            <p:cNvSpPr/>
            <p:nvPr/>
          </p:nvSpPr>
          <p:spPr>
            <a:xfrm>
              <a:off x="0" y="0"/>
              <a:ext cx="4908550" cy="1209675"/>
            </a:xfrm>
            <a:custGeom>
              <a:avLst/>
              <a:gdLst/>
              <a:ahLst/>
              <a:cxnLst/>
              <a:rect l="l" t="t" r="r" b="b"/>
              <a:pathLst>
                <a:path w="4908550" h="1209675">
                  <a:moveTo>
                    <a:pt x="4305681" y="1209675"/>
                  </a:moveTo>
                  <a:cubicBezTo>
                    <a:pt x="0" y="1209675"/>
                    <a:pt x="0" y="1209675"/>
                    <a:pt x="0" y="12096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305681" y="0"/>
                    <a:pt x="4305681" y="0"/>
                    <a:pt x="4305681" y="0"/>
                  </a:cubicBezTo>
                  <a:cubicBezTo>
                    <a:pt x="4638802" y="0"/>
                    <a:pt x="4908550" y="269875"/>
                    <a:pt x="4908550" y="603250"/>
                  </a:cubicBezTo>
                  <a:cubicBezTo>
                    <a:pt x="4908550" y="1209675"/>
                    <a:pt x="4908550" y="1209675"/>
                    <a:pt x="4908550" y="1209675"/>
                  </a:cubicBezTo>
                  <a:lnTo>
                    <a:pt x="4305681" y="1209675"/>
                  </a:lnTo>
                  <a:close/>
                </a:path>
              </a:pathLst>
            </a:custGeom>
            <a:solidFill>
              <a:srgbClr val="0E9E3C"/>
            </a:solidFill>
          </p:spPr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F8690EE4-6A1E-75D9-BB4C-97C4A0A19BBA}"/>
              </a:ext>
            </a:extLst>
          </p:cNvPr>
          <p:cNvSpPr txBox="1"/>
          <p:nvPr/>
        </p:nvSpPr>
        <p:spPr>
          <a:xfrm>
            <a:off x="3235079" y="275171"/>
            <a:ext cx="9147425" cy="4665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2200" b="1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CONTRATOS EM ANDAMENTO - DIVERSOS</a:t>
            </a:r>
          </a:p>
        </p:txBody>
      </p:sp>
      <p:grpSp>
        <p:nvGrpSpPr>
          <p:cNvPr id="20" name="Group 17">
            <a:extLst>
              <a:ext uri="{FF2B5EF4-FFF2-40B4-BE49-F238E27FC236}">
                <a16:creationId xmlns:a16="http://schemas.microsoft.com/office/drawing/2014/main" id="{558242D8-DD54-30D1-9489-A226F2ECAD89}"/>
              </a:ext>
            </a:extLst>
          </p:cNvPr>
          <p:cNvGrpSpPr/>
          <p:nvPr/>
        </p:nvGrpSpPr>
        <p:grpSpPr>
          <a:xfrm>
            <a:off x="1944231" y="130543"/>
            <a:ext cx="904875" cy="907257"/>
            <a:chOff x="0" y="0"/>
            <a:chExt cx="1206500" cy="1209676"/>
          </a:xfrm>
        </p:grpSpPr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71103CE6-AAF3-D434-8397-BC47BD54510D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</p: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D53C9B0E-444E-32AE-31B0-EA0CA04F37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F3560973-3015-AE19-95A6-E458DF21DA84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6A30E74-F365-986B-67ED-5C7C5F6A4B98}"/>
              </a:ext>
            </a:extLst>
          </p:cNvPr>
          <p:cNvSpPr txBox="1"/>
          <p:nvPr/>
        </p:nvSpPr>
        <p:spPr>
          <a:xfrm>
            <a:off x="-189350" y="8141378"/>
            <a:ext cx="23918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1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DIVERSOS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70DEEF5-E687-C9B1-E598-7E3A2AC12E81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1999596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03CF7-9596-782B-DA87-A2B890157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E81A8836-630C-62D9-AAF0-40C00F9D331A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BE0A1DFD-531E-7059-5B77-F64918592999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4AA45562-B052-5D75-D4BC-1BD485332D17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2E5489EE-6E19-95F7-1BD1-D8795517956D}"/>
              </a:ext>
            </a:extLst>
          </p:cNvPr>
          <p:cNvSpPr txBox="1"/>
          <p:nvPr/>
        </p:nvSpPr>
        <p:spPr>
          <a:xfrm>
            <a:off x="5094594" y="1321922"/>
            <a:ext cx="4049406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103/2025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C728CAAD-DCD7-62C9-3548-63C7D1656600}"/>
              </a:ext>
            </a:extLst>
          </p:cNvPr>
          <p:cNvSpPr txBox="1"/>
          <p:nvPr/>
        </p:nvSpPr>
        <p:spPr>
          <a:xfrm>
            <a:off x="2688409" y="2900238"/>
            <a:ext cx="8003890" cy="3270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>
                <a:latin typeface="Gotham" panose="020B0604020202020204"/>
              </a:rPr>
              <a:t>Mapeamento e diagnóstico do sistema de drenagem pluvial, por meio de vídeo inspeção robotizada, abrangendo também os serviços de limpeza e desobstrução mecânica das redes de drenagem pluvial em rodovias pavimentadas integrantes da malha rodoviária estadual.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R$ 35.777.367,23</a:t>
            </a:r>
            <a:endParaRPr lang="pt-BR">
              <a:solidFill>
                <a:srgbClr val="3C3C3C"/>
              </a:solidFill>
              <a:latin typeface="Gotham"/>
              <a:ea typeface="Gotham"/>
              <a:cs typeface="Gotham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latin typeface="Gotham"/>
                <a:ea typeface="Gotham"/>
                <a:cs typeface="Gotham"/>
                <a:sym typeface="Gotham"/>
              </a:rPr>
              <a:t>SITUAÇÃO:</a:t>
            </a:r>
            <a:r>
              <a:rPr lang="pt-BR">
                <a:latin typeface="Gotham"/>
                <a:ea typeface="Gotham"/>
                <a:cs typeface="Gotham"/>
                <a:sym typeface="Gotham"/>
              </a:rPr>
              <a:t> Em Andamento</a:t>
            </a:r>
            <a:endParaRPr lang="pt-BR">
              <a:latin typeface="Gotham"/>
              <a:ea typeface="Gotham"/>
              <a:cs typeface="Gotham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</a:t>
            </a:r>
            <a:r>
              <a:rPr lang="pt-BR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 39,8%</a:t>
            </a:r>
            <a:endParaRPr lang="pt-BR">
              <a:solidFill>
                <a:srgbClr val="3C3C3C"/>
              </a:solidFill>
              <a:latin typeface="Gotham"/>
              <a:ea typeface="Gotham"/>
              <a:cs typeface="Gotham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FEBC633-D3D7-DA29-72EF-4DF3DDCE7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3614" y="2900238"/>
            <a:ext cx="5724316" cy="3916249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DB501675-C16D-69D9-D59F-E7421E745C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8EB98BCC-7EC9-4ED1-80D5-6B09629C66AD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1C2B5A0-68B6-B560-D0FB-8E8F03D523B2}"/>
              </a:ext>
            </a:extLst>
          </p:cNvPr>
          <p:cNvSpPr txBox="1"/>
          <p:nvPr/>
        </p:nvSpPr>
        <p:spPr>
          <a:xfrm>
            <a:off x="-189350" y="8141378"/>
            <a:ext cx="23918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1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DIVERSOS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C6FAB85-47AD-179C-203C-303B8A6E5242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2906009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BF566-F961-7FDF-11CB-C4518ADBA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8D7F4A43-E581-5BD8-9C51-700F80A1DBC5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4" name="TextBox 5">
            <a:extLst>
              <a:ext uri="{FF2B5EF4-FFF2-40B4-BE49-F238E27FC236}">
                <a16:creationId xmlns:a16="http://schemas.microsoft.com/office/drawing/2014/main" id="{72BF449E-91E8-82EF-1FF7-E7DAC06942ED}"/>
              </a:ext>
            </a:extLst>
          </p:cNvPr>
          <p:cNvSpPr txBox="1"/>
          <p:nvPr/>
        </p:nvSpPr>
        <p:spPr>
          <a:xfrm>
            <a:off x="2378918" y="2884273"/>
            <a:ext cx="6293134" cy="28468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OBJETO: </a:t>
            </a:r>
            <a:r>
              <a:rPr lang="pt-BR">
                <a:solidFill>
                  <a:srgbClr val="3C3C3C"/>
                </a:solidFill>
                <a:latin typeface="Gotham"/>
                <a:sym typeface="Gotham"/>
              </a:rPr>
              <a:t>Elaboração de projeto executivo de engenharia, para reconstrução de obras de arte especiais para melhoria da trafegabilidade nas rodovias estaduais GO-112, GO-116 e GO-538.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VALOR DO CONTRATO: </a:t>
            </a:r>
            <a:r>
              <a:rPr lang="pt-BR">
                <a:solidFill>
                  <a:srgbClr val="3C3C3C"/>
                </a:solidFill>
                <a:latin typeface="Gotham"/>
                <a:sym typeface="Gotham"/>
              </a:rPr>
              <a:t>R$ 121.499,96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SITUAÇÃO: </a:t>
            </a:r>
            <a:r>
              <a:rPr lang="pt-BR">
                <a:solidFill>
                  <a:srgbClr val="3C3C3C"/>
                </a:solidFill>
                <a:latin typeface="Gotham"/>
                <a:sym typeface="Gotham"/>
              </a:rPr>
              <a:t>Concluído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>
              <a:solidFill>
                <a:srgbClr val="3C3C3C"/>
              </a:solidFill>
              <a:latin typeface="Gotham"/>
              <a:sym typeface="Gotham"/>
            </a:endParaRPr>
          </a:p>
        </p:txBody>
      </p:sp>
      <p:grpSp>
        <p:nvGrpSpPr>
          <p:cNvPr id="35" name="Group 18">
            <a:extLst>
              <a:ext uri="{FF2B5EF4-FFF2-40B4-BE49-F238E27FC236}">
                <a16:creationId xmlns:a16="http://schemas.microsoft.com/office/drawing/2014/main" id="{74941998-FE92-D483-F4B7-512EFF509B63}"/>
              </a:ext>
            </a:extLst>
          </p:cNvPr>
          <p:cNvGrpSpPr/>
          <p:nvPr/>
        </p:nvGrpSpPr>
        <p:grpSpPr>
          <a:xfrm>
            <a:off x="2382013" y="1497027"/>
            <a:ext cx="6413950" cy="1366567"/>
            <a:chOff x="0" y="0"/>
            <a:chExt cx="6580890" cy="1822090"/>
          </a:xfrm>
        </p:grpSpPr>
        <p:sp>
          <p:nvSpPr>
            <p:cNvPr id="36" name="Freeform 19">
              <a:extLst>
                <a:ext uri="{FF2B5EF4-FFF2-40B4-BE49-F238E27FC236}">
                  <a16:creationId xmlns:a16="http://schemas.microsoft.com/office/drawing/2014/main" id="{08C6AEF4-54DC-7922-1E38-01E8AF0E74C7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7" name="TextBox 20">
            <a:extLst>
              <a:ext uri="{FF2B5EF4-FFF2-40B4-BE49-F238E27FC236}">
                <a16:creationId xmlns:a16="http://schemas.microsoft.com/office/drawing/2014/main" id="{C857BF9A-0B6B-176A-E051-40AF915BD76B}"/>
              </a:ext>
            </a:extLst>
          </p:cNvPr>
          <p:cNvSpPr txBox="1"/>
          <p:nvPr/>
        </p:nvSpPr>
        <p:spPr>
          <a:xfrm>
            <a:off x="3999245" y="1592503"/>
            <a:ext cx="3094730" cy="7619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43/2020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758114E-C643-418E-5A9F-DE6404D2F0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DD397B7E-318A-7F65-D05E-6180E32972C9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8FD8558-8726-ED13-BBC0-C4710F98891F}"/>
              </a:ext>
            </a:extLst>
          </p:cNvPr>
          <p:cNvSpPr txBox="1"/>
          <p:nvPr/>
        </p:nvSpPr>
        <p:spPr>
          <a:xfrm>
            <a:off x="-189350" y="8141378"/>
            <a:ext cx="23918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1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DIVERSOS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7C4B006-DBAA-486A-D3B2-F58A83E14804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grpSp>
        <p:nvGrpSpPr>
          <p:cNvPr id="5" name="Group 15">
            <a:extLst>
              <a:ext uri="{FF2B5EF4-FFF2-40B4-BE49-F238E27FC236}">
                <a16:creationId xmlns:a16="http://schemas.microsoft.com/office/drawing/2014/main" id="{0B6D9CDF-A4AA-7FC6-F54D-6FA0CB794DDD}"/>
              </a:ext>
            </a:extLst>
          </p:cNvPr>
          <p:cNvGrpSpPr/>
          <p:nvPr/>
        </p:nvGrpSpPr>
        <p:grpSpPr>
          <a:xfrm>
            <a:off x="2504057" y="123923"/>
            <a:ext cx="8306051" cy="775235"/>
            <a:chOff x="0" y="0"/>
            <a:chExt cx="4908550" cy="1209676"/>
          </a:xfrm>
        </p:grpSpPr>
        <p:sp>
          <p:nvSpPr>
            <p:cNvPr id="11" name="Freeform 16">
              <a:extLst>
                <a:ext uri="{FF2B5EF4-FFF2-40B4-BE49-F238E27FC236}">
                  <a16:creationId xmlns:a16="http://schemas.microsoft.com/office/drawing/2014/main" id="{2DC281C8-CC6E-4ABB-2C20-92D0DFC69FB1}"/>
                </a:ext>
              </a:extLst>
            </p:cNvPr>
            <p:cNvSpPr/>
            <p:nvPr/>
          </p:nvSpPr>
          <p:spPr>
            <a:xfrm>
              <a:off x="0" y="0"/>
              <a:ext cx="4908550" cy="1209675"/>
            </a:xfrm>
            <a:custGeom>
              <a:avLst/>
              <a:gdLst/>
              <a:ahLst/>
              <a:cxnLst/>
              <a:rect l="l" t="t" r="r" b="b"/>
              <a:pathLst>
                <a:path w="4908550" h="1209675">
                  <a:moveTo>
                    <a:pt x="4305681" y="1209675"/>
                  </a:moveTo>
                  <a:cubicBezTo>
                    <a:pt x="0" y="1209675"/>
                    <a:pt x="0" y="1209675"/>
                    <a:pt x="0" y="12096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305681" y="0"/>
                    <a:pt x="4305681" y="0"/>
                    <a:pt x="4305681" y="0"/>
                  </a:cubicBezTo>
                  <a:cubicBezTo>
                    <a:pt x="4638802" y="0"/>
                    <a:pt x="4908550" y="269875"/>
                    <a:pt x="4908550" y="603250"/>
                  </a:cubicBezTo>
                  <a:cubicBezTo>
                    <a:pt x="4908550" y="1209675"/>
                    <a:pt x="4908550" y="1209675"/>
                    <a:pt x="4908550" y="1209675"/>
                  </a:cubicBezTo>
                  <a:lnTo>
                    <a:pt x="4305681" y="1209675"/>
                  </a:lnTo>
                  <a:close/>
                </a:path>
              </a:pathLst>
            </a:custGeom>
            <a:solidFill>
              <a:srgbClr val="0E9E3C"/>
            </a:solidFill>
          </p:spPr>
        </p:sp>
      </p:grpSp>
      <p:grpSp>
        <p:nvGrpSpPr>
          <p:cNvPr id="12" name="Group 17">
            <a:extLst>
              <a:ext uri="{FF2B5EF4-FFF2-40B4-BE49-F238E27FC236}">
                <a16:creationId xmlns:a16="http://schemas.microsoft.com/office/drawing/2014/main" id="{24AD079F-5CC9-9059-59C9-EAEF0489C4A0}"/>
              </a:ext>
            </a:extLst>
          </p:cNvPr>
          <p:cNvGrpSpPr/>
          <p:nvPr/>
        </p:nvGrpSpPr>
        <p:grpSpPr>
          <a:xfrm>
            <a:off x="1944083" y="17693"/>
            <a:ext cx="904875" cy="907257"/>
            <a:chOff x="0" y="0"/>
            <a:chExt cx="1206500" cy="1209676"/>
          </a:xfrm>
        </p:grpSpPr>
        <p:sp>
          <p:nvSpPr>
            <p:cNvPr id="13" name="Freeform 18">
              <a:extLst>
                <a:ext uri="{FF2B5EF4-FFF2-40B4-BE49-F238E27FC236}">
                  <a16:creationId xmlns:a16="http://schemas.microsoft.com/office/drawing/2014/main" id="{14B33DB5-2002-CEA9-5A77-945CB06EEB00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</p:sp>
      </p:grpSp>
      <p:sp>
        <p:nvSpPr>
          <p:cNvPr id="14" name="TextBox 19">
            <a:extLst>
              <a:ext uri="{FF2B5EF4-FFF2-40B4-BE49-F238E27FC236}">
                <a16:creationId xmlns:a16="http://schemas.microsoft.com/office/drawing/2014/main" id="{B3B628C4-0760-44BF-1D04-AFF6F4C91DC7}"/>
              </a:ext>
            </a:extLst>
          </p:cNvPr>
          <p:cNvSpPr txBox="1"/>
          <p:nvPr/>
        </p:nvSpPr>
        <p:spPr>
          <a:xfrm>
            <a:off x="2975343" y="190448"/>
            <a:ext cx="9147425" cy="483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00" b="1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CONTRATOS CONCLUÍDOS – OBRAS DIVERSAS</a:t>
            </a:r>
          </a:p>
        </p:txBody>
      </p:sp>
    </p:spTree>
    <p:extLst>
      <p:ext uri="{BB962C8B-B14F-4D97-AF65-F5344CB8AC3E}">
        <p14:creationId xmlns:p14="http://schemas.microsoft.com/office/powerpoint/2010/main" val="219325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F83E3-9EB3-E4F8-DD82-9D6915C6C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5AC3B3CA-D8DE-222D-746F-5A173244B493}"/>
              </a:ext>
            </a:extLst>
          </p:cNvPr>
          <p:cNvSpPr txBox="1"/>
          <p:nvPr/>
        </p:nvSpPr>
        <p:spPr>
          <a:xfrm>
            <a:off x="2191275" y="2444069"/>
            <a:ext cx="6548960" cy="20242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OBJETO</a:t>
            </a:r>
            <a:r>
              <a:rPr lang="pt-BR">
                <a:solidFill>
                  <a:srgbClr val="3C3C3C"/>
                </a:solidFill>
                <a:latin typeface="Gotham"/>
                <a:sym typeface="Gotham"/>
              </a:rPr>
              <a:t>: Execução de serviços e locação/montagem de tendas para o corpo de bombeiros e à polícia militar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VALOR DO CONTRATO</a:t>
            </a:r>
            <a:r>
              <a:rPr lang="pt-BR">
                <a:solidFill>
                  <a:srgbClr val="3C3C3C"/>
                </a:solidFill>
                <a:latin typeface="Gotham"/>
                <a:sym typeface="Gotham"/>
              </a:rPr>
              <a:t>: R$ 91.500,00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SITUAÇÃO</a:t>
            </a:r>
            <a:r>
              <a:rPr lang="pt-BR">
                <a:solidFill>
                  <a:srgbClr val="3C3C3C"/>
                </a:solidFill>
                <a:latin typeface="Gotham"/>
                <a:sym typeface="Gotham"/>
              </a:rPr>
              <a:t>: Concluído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573E4119-6782-6322-4391-3D55A4FDA864}"/>
              </a:ext>
            </a:extLst>
          </p:cNvPr>
          <p:cNvGrpSpPr/>
          <p:nvPr/>
        </p:nvGrpSpPr>
        <p:grpSpPr>
          <a:xfrm>
            <a:off x="2063401" y="1040401"/>
            <a:ext cx="6133069" cy="1276170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A8BB4C14-CBD6-9EDF-9F15-AA7513A04501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AA007A3A-39E8-D172-DD45-8B3AD611CC36}"/>
              </a:ext>
            </a:extLst>
          </p:cNvPr>
          <p:cNvSpPr txBox="1"/>
          <p:nvPr/>
        </p:nvSpPr>
        <p:spPr>
          <a:xfrm>
            <a:off x="2644533" y="1040401"/>
            <a:ext cx="6413949" cy="7619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78/2022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AB544F84-56FA-B0B6-49C3-B9EE477E2AAA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26" name="Group 18">
            <a:extLst>
              <a:ext uri="{FF2B5EF4-FFF2-40B4-BE49-F238E27FC236}">
                <a16:creationId xmlns:a16="http://schemas.microsoft.com/office/drawing/2014/main" id="{FB352C6B-D51A-DF31-194C-59B0478670EB}"/>
              </a:ext>
            </a:extLst>
          </p:cNvPr>
          <p:cNvGrpSpPr/>
          <p:nvPr/>
        </p:nvGrpSpPr>
        <p:grpSpPr>
          <a:xfrm>
            <a:off x="9812899" y="1029551"/>
            <a:ext cx="6413950" cy="1365519"/>
            <a:chOff x="0" y="0"/>
            <a:chExt cx="6580890" cy="1822090"/>
          </a:xfrm>
        </p:grpSpPr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EAEFD460-F5F6-2BEB-2CA8-5530276F4B9E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EC41B378-1AC4-CA29-CF9C-05820F1BC316}"/>
              </a:ext>
            </a:extLst>
          </p:cNvPr>
          <p:cNvSpPr txBox="1"/>
          <p:nvPr/>
        </p:nvSpPr>
        <p:spPr>
          <a:xfrm>
            <a:off x="10266084" y="1051455"/>
            <a:ext cx="9144000" cy="1756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79/2022</a:t>
            </a:r>
          </a:p>
          <a:p>
            <a:pPr>
              <a:lnSpc>
                <a:spcPts val="7200"/>
              </a:lnSpc>
            </a:pPr>
            <a:endParaRPr lang="en-US" sz="2000" b="1">
              <a:solidFill>
                <a:srgbClr val="FFFFFF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71227C6B-E833-9CA2-44D9-12BAA681463A}"/>
              </a:ext>
            </a:extLst>
          </p:cNvPr>
          <p:cNvSpPr txBox="1"/>
          <p:nvPr/>
        </p:nvSpPr>
        <p:spPr>
          <a:xfrm>
            <a:off x="9827933" y="2519543"/>
            <a:ext cx="6548959" cy="20242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OBJETO</a:t>
            </a:r>
            <a:r>
              <a:rPr lang="pt-BR">
                <a:solidFill>
                  <a:srgbClr val="3C3C3C"/>
                </a:solidFill>
                <a:latin typeface="Gotham"/>
                <a:sym typeface="Gotham"/>
              </a:rPr>
              <a:t>: Execução de serviços para estruturação do centro de apoio aos romeiros (OVG), na GO - 060 ( rodovia dos romeiros).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VALOR DO CONTRATO</a:t>
            </a:r>
            <a:r>
              <a:rPr lang="pt-BR">
                <a:solidFill>
                  <a:srgbClr val="3C3C3C"/>
                </a:solidFill>
                <a:latin typeface="Gotham"/>
                <a:sym typeface="Gotham"/>
              </a:rPr>
              <a:t>: R$ 363.000,00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SITUAÇÃO</a:t>
            </a:r>
            <a:r>
              <a:rPr lang="pt-BR">
                <a:solidFill>
                  <a:srgbClr val="3C3C3C"/>
                </a:solidFill>
                <a:latin typeface="Gotham"/>
                <a:sym typeface="Gotham"/>
              </a:rPr>
              <a:t>: Concluído</a:t>
            </a:r>
          </a:p>
        </p:txBody>
      </p:sp>
      <p:sp>
        <p:nvSpPr>
          <p:cNvPr id="34" name="TextBox 5">
            <a:extLst>
              <a:ext uri="{FF2B5EF4-FFF2-40B4-BE49-F238E27FC236}">
                <a16:creationId xmlns:a16="http://schemas.microsoft.com/office/drawing/2014/main" id="{AA8E278D-A3B3-635E-E8B2-FA0CE2BC4FE8}"/>
              </a:ext>
            </a:extLst>
          </p:cNvPr>
          <p:cNvSpPr txBox="1"/>
          <p:nvPr/>
        </p:nvSpPr>
        <p:spPr>
          <a:xfrm>
            <a:off x="2038875" y="6459209"/>
            <a:ext cx="6548960" cy="243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OBJETO: </a:t>
            </a:r>
            <a:r>
              <a:rPr lang="pt-BR">
                <a:solidFill>
                  <a:srgbClr val="3C3C3C"/>
                </a:solidFill>
                <a:latin typeface="Gotham"/>
                <a:sym typeface="Gotham"/>
              </a:rPr>
              <a:t>Serviços de locação/montagem de stands para o corpo de bombeiros militar e polícia militar a serem montados no canteiro central da rodovia GO-060 Goiânia/Trindade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VALOR DO CONTRATO: </a:t>
            </a:r>
            <a:r>
              <a:rPr lang="pt-BR">
                <a:solidFill>
                  <a:srgbClr val="3C3C3C"/>
                </a:solidFill>
                <a:latin typeface="Gotham"/>
                <a:sym typeface="Gotham"/>
              </a:rPr>
              <a:t>R$ 36.000,00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SITUAÇÃO: </a:t>
            </a:r>
            <a:r>
              <a:rPr lang="pt-BR">
                <a:solidFill>
                  <a:srgbClr val="3C3C3C"/>
                </a:solidFill>
                <a:latin typeface="Gotham"/>
                <a:sym typeface="Gotham"/>
              </a:rPr>
              <a:t>Concluído</a:t>
            </a:r>
          </a:p>
        </p:txBody>
      </p:sp>
      <p:grpSp>
        <p:nvGrpSpPr>
          <p:cNvPr id="35" name="Group 18">
            <a:extLst>
              <a:ext uri="{FF2B5EF4-FFF2-40B4-BE49-F238E27FC236}">
                <a16:creationId xmlns:a16="http://schemas.microsoft.com/office/drawing/2014/main" id="{5EBD5DEA-881B-EAE7-342C-79CC9EA91D73}"/>
              </a:ext>
            </a:extLst>
          </p:cNvPr>
          <p:cNvGrpSpPr/>
          <p:nvPr/>
        </p:nvGrpSpPr>
        <p:grpSpPr>
          <a:xfrm>
            <a:off x="2038875" y="5092642"/>
            <a:ext cx="6124464" cy="1366567"/>
            <a:chOff x="0" y="0"/>
            <a:chExt cx="6580890" cy="1822090"/>
          </a:xfrm>
        </p:grpSpPr>
        <p:sp>
          <p:nvSpPr>
            <p:cNvPr id="36" name="Freeform 19">
              <a:extLst>
                <a:ext uri="{FF2B5EF4-FFF2-40B4-BE49-F238E27FC236}">
                  <a16:creationId xmlns:a16="http://schemas.microsoft.com/office/drawing/2014/main" id="{92DCB9F3-0615-2753-04E1-1B6462C5A669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7" name="TextBox 20">
            <a:extLst>
              <a:ext uri="{FF2B5EF4-FFF2-40B4-BE49-F238E27FC236}">
                <a16:creationId xmlns:a16="http://schemas.microsoft.com/office/drawing/2014/main" id="{67DF7659-7D25-F38C-4117-41BA09FA9DF7}"/>
              </a:ext>
            </a:extLst>
          </p:cNvPr>
          <p:cNvSpPr txBox="1"/>
          <p:nvPr/>
        </p:nvSpPr>
        <p:spPr>
          <a:xfrm>
            <a:off x="2492134" y="5258919"/>
            <a:ext cx="6413949" cy="7619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90/2022</a:t>
            </a:r>
          </a:p>
        </p:txBody>
      </p:sp>
      <p:sp>
        <p:nvSpPr>
          <p:cNvPr id="42" name="TextBox 5">
            <a:extLst>
              <a:ext uri="{FF2B5EF4-FFF2-40B4-BE49-F238E27FC236}">
                <a16:creationId xmlns:a16="http://schemas.microsoft.com/office/drawing/2014/main" id="{853EA880-2EAF-DAC5-C020-2CA7DD6B6796}"/>
              </a:ext>
            </a:extLst>
          </p:cNvPr>
          <p:cNvSpPr txBox="1"/>
          <p:nvPr/>
        </p:nvSpPr>
        <p:spPr>
          <a:xfrm>
            <a:off x="10134191" y="6617536"/>
            <a:ext cx="6242701" cy="20242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OBJETO: </a:t>
            </a:r>
            <a:r>
              <a:rPr lang="pt-BR">
                <a:solidFill>
                  <a:srgbClr val="3C3C3C"/>
                </a:solidFill>
                <a:latin typeface="Gotham"/>
                <a:sym typeface="Gotham"/>
              </a:rPr>
              <a:t>serviços e locação/montagem de painel de led para o centro de apoio aos romeiros no km 9, na rodovia estadual GO-060.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>
                <a:solidFill>
                  <a:srgbClr val="3C3C3C"/>
                </a:solidFill>
                <a:latin typeface="Gotham"/>
                <a:sym typeface="Gotham"/>
              </a:rPr>
              <a:t> </a:t>
            </a: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VALOR DO CONTRATO</a:t>
            </a:r>
            <a:r>
              <a:rPr lang="pt-BR">
                <a:solidFill>
                  <a:srgbClr val="3C3C3C"/>
                </a:solidFill>
                <a:latin typeface="Gotham"/>
                <a:sym typeface="Gotham"/>
              </a:rPr>
              <a:t>: R$ 16.000,00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SITUAÇÃO: </a:t>
            </a:r>
            <a:r>
              <a:rPr lang="pt-BR">
                <a:solidFill>
                  <a:srgbClr val="3C3C3C"/>
                </a:solidFill>
                <a:latin typeface="Gotham"/>
                <a:sym typeface="Gotham"/>
              </a:rPr>
              <a:t>Concluído</a:t>
            </a:r>
          </a:p>
        </p:txBody>
      </p:sp>
      <p:grpSp>
        <p:nvGrpSpPr>
          <p:cNvPr id="43" name="Group 18">
            <a:extLst>
              <a:ext uri="{FF2B5EF4-FFF2-40B4-BE49-F238E27FC236}">
                <a16:creationId xmlns:a16="http://schemas.microsoft.com/office/drawing/2014/main" id="{07069614-3BF9-C3C1-4623-7288E6949804}"/>
              </a:ext>
            </a:extLst>
          </p:cNvPr>
          <p:cNvGrpSpPr/>
          <p:nvPr/>
        </p:nvGrpSpPr>
        <p:grpSpPr>
          <a:xfrm>
            <a:off x="9962947" y="5092642"/>
            <a:ext cx="6413950" cy="1366567"/>
            <a:chOff x="0" y="0"/>
            <a:chExt cx="6580890" cy="1822090"/>
          </a:xfrm>
        </p:grpSpPr>
        <p:sp>
          <p:nvSpPr>
            <p:cNvPr id="44" name="Freeform 19">
              <a:extLst>
                <a:ext uri="{FF2B5EF4-FFF2-40B4-BE49-F238E27FC236}">
                  <a16:creationId xmlns:a16="http://schemas.microsoft.com/office/drawing/2014/main" id="{C67347AF-C212-2BB5-B8D8-E273E4ABEA07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00E77EC3-DB97-DA54-5A5F-A59BC6B57DFE}"/>
              </a:ext>
            </a:extLst>
          </p:cNvPr>
          <p:cNvSpPr txBox="1"/>
          <p:nvPr/>
        </p:nvSpPr>
        <p:spPr>
          <a:xfrm>
            <a:off x="10416209" y="5192490"/>
            <a:ext cx="9780104" cy="82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91/2022</a:t>
            </a:r>
          </a:p>
        </p:txBody>
      </p:sp>
      <p:grpSp>
        <p:nvGrpSpPr>
          <p:cNvPr id="47" name="Group 15">
            <a:extLst>
              <a:ext uri="{FF2B5EF4-FFF2-40B4-BE49-F238E27FC236}">
                <a16:creationId xmlns:a16="http://schemas.microsoft.com/office/drawing/2014/main" id="{FF85A8A3-5E3C-6E77-341A-1DA587DFCDC2}"/>
              </a:ext>
            </a:extLst>
          </p:cNvPr>
          <p:cNvGrpSpPr/>
          <p:nvPr/>
        </p:nvGrpSpPr>
        <p:grpSpPr>
          <a:xfrm>
            <a:off x="2504057" y="123923"/>
            <a:ext cx="10788862" cy="775235"/>
            <a:chOff x="0" y="0"/>
            <a:chExt cx="4908550" cy="1209676"/>
          </a:xfrm>
        </p:grpSpPr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88D3586F-22C3-06C4-A931-7E3194D6C27F}"/>
                </a:ext>
              </a:extLst>
            </p:cNvPr>
            <p:cNvSpPr/>
            <p:nvPr/>
          </p:nvSpPr>
          <p:spPr>
            <a:xfrm>
              <a:off x="0" y="0"/>
              <a:ext cx="4908550" cy="1209675"/>
            </a:xfrm>
            <a:custGeom>
              <a:avLst/>
              <a:gdLst/>
              <a:ahLst/>
              <a:cxnLst/>
              <a:rect l="l" t="t" r="r" b="b"/>
              <a:pathLst>
                <a:path w="4908550" h="1209675">
                  <a:moveTo>
                    <a:pt x="4305681" y="1209675"/>
                  </a:moveTo>
                  <a:cubicBezTo>
                    <a:pt x="0" y="1209675"/>
                    <a:pt x="0" y="1209675"/>
                    <a:pt x="0" y="12096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305681" y="0"/>
                    <a:pt x="4305681" y="0"/>
                    <a:pt x="4305681" y="0"/>
                  </a:cubicBezTo>
                  <a:cubicBezTo>
                    <a:pt x="4638802" y="0"/>
                    <a:pt x="4908550" y="269875"/>
                    <a:pt x="4908550" y="603250"/>
                  </a:cubicBezTo>
                  <a:cubicBezTo>
                    <a:pt x="4908550" y="1209675"/>
                    <a:pt x="4908550" y="1209675"/>
                    <a:pt x="4908550" y="1209675"/>
                  </a:cubicBezTo>
                  <a:lnTo>
                    <a:pt x="4305681" y="1209675"/>
                  </a:lnTo>
                  <a:close/>
                </a:path>
              </a:pathLst>
            </a:custGeom>
            <a:solidFill>
              <a:srgbClr val="0E9E3C"/>
            </a:solidFill>
          </p:spPr>
        </p:sp>
      </p:grpSp>
      <p:grpSp>
        <p:nvGrpSpPr>
          <p:cNvPr id="49" name="Group 17">
            <a:extLst>
              <a:ext uri="{FF2B5EF4-FFF2-40B4-BE49-F238E27FC236}">
                <a16:creationId xmlns:a16="http://schemas.microsoft.com/office/drawing/2014/main" id="{F98194E5-0377-F8DE-FB27-40877625275C}"/>
              </a:ext>
            </a:extLst>
          </p:cNvPr>
          <p:cNvGrpSpPr/>
          <p:nvPr/>
        </p:nvGrpSpPr>
        <p:grpSpPr>
          <a:xfrm>
            <a:off x="1944083" y="17693"/>
            <a:ext cx="904875" cy="907257"/>
            <a:chOff x="0" y="0"/>
            <a:chExt cx="1206500" cy="1209676"/>
          </a:xfrm>
        </p:grpSpPr>
        <p:sp>
          <p:nvSpPr>
            <p:cNvPr id="50" name="Freeform 18">
              <a:extLst>
                <a:ext uri="{FF2B5EF4-FFF2-40B4-BE49-F238E27FC236}">
                  <a16:creationId xmlns:a16="http://schemas.microsoft.com/office/drawing/2014/main" id="{14922FD6-23A0-00E0-FFAA-2671F55B8F0D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</p:sp>
      </p:grpSp>
      <p:sp>
        <p:nvSpPr>
          <p:cNvPr id="51" name="TextBox 19">
            <a:extLst>
              <a:ext uri="{FF2B5EF4-FFF2-40B4-BE49-F238E27FC236}">
                <a16:creationId xmlns:a16="http://schemas.microsoft.com/office/drawing/2014/main" id="{9161E422-C806-B34E-4470-2AFF97BA70FF}"/>
              </a:ext>
            </a:extLst>
          </p:cNvPr>
          <p:cNvSpPr txBox="1"/>
          <p:nvPr/>
        </p:nvSpPr>
        <p:spPr>
          <a:xfrm>
            <a:off x="2975343" y="190448"/>
            <a:ext cx="9867200" cy="4772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2200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CONTRATOS CONCLUÍDOS – APOIO AOS ROMEIROS - TRINDADE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910C0EA-69CD-01BB-7C90-97BDCA104F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FC7A037-B3BD-9AF7-CE16-615F25135CD8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1568FB6-5A5D-FD95-89E9-787949C27BA3}"/>
              </a:ext>
            </a:extLst>
          </p:cNvPr>
          <p:cNvSpPr txBox="1"/>
          <p:nvPr/>
        </p:nvSpPr>
        <p:spPr>
          <a:xfrm>
            <a:off x="-189350" y="8141378"/>
            <a:ext cx="23918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1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DIVERSOS</a:t>
            </a:r>
          </a:p>
          <a:p>
            <a:pPr algn="ctr"/>
            <a:r>
              <a:rPr lang="en-US" sz="11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"/>
                <a:ea typeface="Gotham"/>
                <a:cs typeface="Gotham"/>
                <a:sym typeface="Gotham"/>
              </a:rPr>
              <a:t>ROMEIROS TRINDADE</a:t>
            </a:r>
            <a:endParaRPr lang="it-IT" sz="11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568B6DD-BA29-3537-545B-664CD740CF9B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1552205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9C1EA-41A4-F0EC-BD4A-2D12DF696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D034E493-9DC8-902D-05EA-CD4A4F2D2A84}"/>
              </a:ext>
            </a:extLst>
          </p:cNvPr>
          <p:cNvSpPr txBox="1"/>
          <p:nvPr/>
        </p:nvSpPr>
        <p:spPr>
          <a:xfrm>
            <a:off x="2156101" y="1572857"/>
            <a:ext cx="6071456" cy="20242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OBJETO</a:t>
            </a:r>
            <a:r>
              <a:rPr lang="pt-BR">
                <a:solidFill>
                  <a:srgbClr val="3C3C3C"/>
                </a:solidFill>
                <a:latin typeface="Gotham"/>
                <a:sym typeface="Gotham"/>
              </a:rPr>
              <a:t>: </a:t>
            </a:r>
            <a:r>
              <a:rPr lang="pt-BR">
                <a:latin typeface="Gotham" panose="020B0604020202020204"/>
              </a:rPr>
              <a:t>Serviços de manutenção de fossa séptica no Centro de Apoio aos Romeiros no km 9, na rodovia estadual GO-060.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VALOR DO CONTRATO</a:t>
            </a:r>
            <a:r>
              <a:rPr lang="pt-BR">
                <a:solidFill>
                  <a:srgbClr val="3C3C3C"/>
                </a:solidFill>
                <a:latin typeface="Gotham"/>
                <a:sym typeface="Gotham"/>
              </a:rPr>
              <a:t>: R$ </a:t>
            </a:r>
            <a:r>
              <a:rPr lang="pt-BR">
                <a:latin typeface="Gotham" panose="020B0604020202020204"/>
              </a:rPr>
              <a:t>6.332,33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SITUAÇÃO</a:t>
            </a:r>
            <a:r>
              <a:rPr lang="pt-BR">
                <a:solidFill>
                  <a:srgbClr val="3C3C3C"/>
                </a:solidFill>
                <a:latin typeface="Gotham"/>
                <a:sym typeface="Gotham"/>
              </a:rPr>
              <a:t>: Concluído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8592B326-77D5-402D-EBE5-72E9635C6AC1}"/>
              </a:ext>
            </a:extLst>
          </p:cNvPr>
          <p:cNvGrpSpPr/>
          <p:nvPr/>
        </p:nvGrpSpPr>
        <p:grpSpPr>
          <a:xfrm>
            <a:off x="2028231" y="169681"/>
            <a:ext cx="6413950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15AB9689-3ED8-97C3-3916-0F6CF7B3D249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790CEC96-1D4A-30B0-A795-2DDA0E400704}"/>
              </a:ext>
            </a:extLst>
          </p:cNvPr>
          <p:cNvSpPr txBox="1"/>
          <p:nvPr/>
        </p:nvSpPr>
        <p:spPr>
          <a:xfrm>
            <a:off x="2847280" y="169681"/>
            <a:ext cx="6413949" cy="7619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92/2022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AFFC9924-C4C5-2EF7-B68E-1976D6784042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14CBD319-5A40-9DEA-E440-9787EBBF3630}"/>
              </a:ext>
            </a:extLst>
          </p:cNvPr>
          <p:cNvSpPr txBox="1"/>
          <p:nvPr/>
        </p:nvSpPr>
        <p:spPr>
          <a:xfrm>
            <a:off x="10382098" y="202930"/>
            <a:ext cx="9144000" cy="1756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109/2022</a:t>
            </a:r>
          </a:p>
          <a:p>
            <a:pPr>
              <a:lnSpc>
                <a:spcPts val="7200"/>
              </a:lnSpc>
            </a:pPr>
            <a:endParaRPr lang="en-US" sz="2000" b="1">
              <a:solidFill>
                <a:srgbClr val="FFFFFF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7E427BD1-464E-987B-3BE3-AFCE6B0FDE0C}"/>
              </a:ext>
            </a:extLst>
          </p:cNvPr>
          <p:cNvSpPr txBox="1"/>
          <p:nvPr/>
        </p:nvSpPr>
        <p:spPr>
          <a:xfrm>
            <a:off x="10382098" y="5026005"/>
            <a:ext cx="9780104" cy="82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111/2022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97E90CB-1F79-239D-005E-B3C0309C64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2BF10213-604B-ED81-5678-6ACD9A8B30C1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7AFE54D-E8A3-158E-3B50-CA39AEA60DAF}"/>
              </a:ext>
            </a:extLst>
          </p:cNvPr>
          <p:cNvSpPr txBox="1"/>
          <p:nvPr/>
        </p:nvSpPr>
        <p:spPr>
          <a:xfrm>
            <a:off x="-189350" y="8141378"/>
            <a:ext cx="239189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1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DIVERSOS</a:t>
            </a:r>
          </a:p>
          <a:p>
            <a:pPr algn="ctr"/>
            <a:r>
              <a:rPr lang="en-US" sz="11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"/>
                <a:ea typeface="Gotham"/>
                <a:cs typeface="Gotham"/>
                <a:sym typeface="Gotham"/>
              </a:rPr>
              <a:t>ROMEIROS TRINDADE</a:t>
            </a:r>
            <a:endParaRPr lang="it-IT" sz="11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Bold"/>
              <a:ea typeface="Gotham Bold"/>
              <a:cs typeface="Gotham Bold"/>
              <a:sym typeface="Gotham Bold"/>
            </a:endParaRPr>
          </a:p>
          <a:p>
            <a:pPr algn="ctr"/>
            <a:endParaRPr lang="it-IT" sz="11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2BA589D-19E2-64CD-D4E8-F1DBA1535AAC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2772976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A2F17-7AF7-F9FA-CBA3-12566DBA5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B5B3A3E8-06D3-4D61-5A38-61139CB629D7}"/>
              </a:ext>
            </a:extLst>
          </p:cNvPr>
          <p:cNvSpPr txBox="1"/>
          <p:nvPr/>
        </p:nvSpPr>
        <p:spPr>
          <a:xfrm>
            <a:off x="2156101" y="2405373"/>
            <a:ext cx="6071456" cy="20242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sym typeface="Gotham"/>
              </a:rPr>
              <a:t>OBJETO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: Execução dos serviços para estruturação do centro de apoio aos romeiros na GO-237, km 14 trecho Niquelândia - Muquém.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sym typeface="Gotham"/>
              </a:rPr>
              <a:t>VALOR DO CONTRATO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: R$ 304.000,00</a:t>
            </a:r>
            <a:endParaRPr lang="pt-BR" dirty="0">
              <a:solidFill>
                <a:srgbClr val="3C3C3C"/>
              </a:solidFill>
              <a:latin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sym typeface="Gotham"/>
              </a:rPr>
              <a:t>SITUAÇÃO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: Concluído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6279468B-02A2-1B23-BDA4-09E7742BC413}"/>
              </a:ext>
            </a:extLst>
          </p:cNvPr>
          <p:cNvGrpSpPr/>
          <p:nvPr/>
        </p:nvGrpSpPr>
        <p:grpSpPr>
          <a:xfrm>
            <a:off x="2028231" y="1002197"/>
            <a:ext cx="6413950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10FD785E-23B0-C53E-2207-FB2F6A0AE61F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73C57812-D77D-13C1-E752-7007D31564FD}"/>
              </a:ext>
            </a:extLst>
          </p:cNvPr>
          <p:cNvSpPr txBox="1"/>
          <p:nvPr/>
        </p:nvSpPr>
        <p:spPr>
          <a:xfrm>
            <a:off x="3653360" y="1099757"/>
            <a:ext cx="6413949" cy="1663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108/2022</a:t>
            </a:r>
          </a:p>
          <a:p>
            <a:pPr>
              <a:lnSpc>
                <a:spcPts val="7200"/>
              </a:lnSpc>
            </a:pPr>
            <a:endParaRPr lang="en-US" sz="2000" b="1" dirty="0">
              <a:solidFill>
                <a:srgbClr val="FFFFFF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A2463FF2-A00B-8CEB-E2EA-A50BADAA7276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26" name="Group 18">
            <a:extLst>
              <a:ext uri="{FF2B5EF4-FFF2-40B4-BE49-F238E27FC236}">
                <a16:creationId xmlns:a16="http://schemas.microsoft.com/office/drawing/2014/main" id="{FEA63740-41AC-52BB-40BD-10BF363BAABF}"/>
              </a:ext>
            </a:extLst>
          </p:cNvPr>
          <p:cNvGrpSpPr/>
          <p:nvPr/>
        </p:nvGrpSpPr>
        <p:grpSpPr>
          <a:xfrm>
            <a:off x="9752520" y="1002197"/>
            <a:ext cx="6413950" cy="1366567"/>
            <a:chOff x="0" y="0"/>
            <a:chExt cx="6580890" cy="1822090"/>
          </a:xfrm>
        </p:grpSpPr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7D9ABB60-861B-A395-2310-44A6CB9872E3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47D5885-5D08-6B49-BDB9-C197568F0074}"/>
              </a:ext>
            </a:extLst>
          </p:cNvPr>
          <p:cNvSpPr txBox="1"/>
          <p:nvPr/>
        </p:nvSpPr>
        <p:spPr>
          <a:xfrm>
            <a:off x="11251976" y="1053590"/>
            <a:ext cx="9144000" cy="1756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109/2022</a:t>
            </a:r>
          </a:p>
          <a:p>
            <a:pPr>
              <a:lnSpc>
                <a:spcPts val="7200"/>
              </a:lnSpc>
            </a:pPr>
            <a:endParaRPr lang="en-US" sz="2000" b="1" dirty="0">
              <a:solidFill>
                <a:srgbClr val="FFFFFF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9DC9576B-9883-F0A1-DE24-A33ACEA7FABF}"/>
              </a:ext>
            </a:extLst>
          </p:cNvPr>
          <p:cNvSpPr txBox="1"/>
          <p:nvPr/>
        </p:nvSpPr>
        <p:spPr>
          <a:xfrm>
            <a:off x="9752520" y="2348348"/>
            <a:ext cx="6071456" cy="243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OBJETO</a:t>
            </a:r>
            <a:r>
              <a:rPr lang="pt-BR">
                <a:solidFill>
                  <a:srgbClr val="3C3C3C"/>
                </a:solidFill>
                <a:latin typeface="Gotham"/>
                <a:sym typeface="Gotham"/>
              </a:rPr>
              <a:t>: Execução dos serviços de locação e montagem de tendas. Serviço de estruturação do centro de apoio aos romeiros no km 14 da rodovia estatual GO-237.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VALOR DO CONTRATO</a:t>
            </a:r>
            <a:r>
              <a:rPr lang="pt-BR">
                <a:solidFill>
                  <a:srgbClr val="3C3C3C"/>
                </a:solidFill>
                <a:latin typeface="Gotham"/>
                <a:sym typeface="Gotham"/>
              </a:rPr>
              <a:t>: R$ 26.000,00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SITUAÇÃO</a:t>
            </a:r>
            <a:r>
              <a:rPr lang="pt-BR">
                <a:solidFill>
                  <a:srgbClr val="3C3C3C"/>
                </a:solidFill>
                <a:latin typeface="Gotham"/>
                <a:sym typeface="Gotham"/>
              </a:rPr>
              <a:t>: Concluído</a:t>
            </a:r>
          </a:p>
        </p:txBody>
      </p:sp>
      <p:sp>
        <p:nvSpPr>
          <p:cNvPr id="34" name="TextBox 5">
            <a:extLst>
              <a:ext uri="{FF2B5EF4-FFF2-40B4-BE49-F238E27FC236}">
                <a16:creationId xmlns:a16="http://schemas.microsoft.com/office/drawing/2014/main" id="{D8538154-4A70-EAC8-73F7-25092080BC4C}"/>
              </a:ext>
            </a:extLst>
          </p:cNvPr>
          <p:cNvSpPr txBox="1"/>
          <p:nvPr/>
        </p:nvSpPr>
        <p:spPr>
          <a:xfrm>
            <a:off x="2038871" y="6254439"/>
            <a:ext cx="6071456" cy="243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OBJETO: </a:t>
            </a:r>
            <a:r>
              <a:rPr lang="pt-BR">
                <a:solidFill>
                  <a:srgbClr val="3C3C3C"/>
                </a:solidFill>
                <a:latin typeface="Gotham"/>
                <a:sym typeface="Gotham"/>
              </a:rPr>
              <a:t>Execução dos serviços de locação e montagem de tendas. Serviço de estruturação do centro de apoio aos romeiros no km 14 da rodovia estatual GO-237.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VALOR DO CONTRATO: </a:t>
            </a:r>
            <a:r>
              <a:rPr lang="pt-BR">
                <a:solidFill>
                  <a:srgbClr val="3C3C3C"/>
                </a:solidFill>
                <a:latin typeface="Gotham"/>
                <a:sym typeface="Gotham"/>
              </a:rPr>
              <a:t>R$ 88.400,00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SITUAÇÃO: </a:t>
            </a:r>
            <a:r>
              <a:rPr lang="pt-BR">
                <a:solidFill>
                  <a:srgbClr val="3C3C3C"/>
                </a:solidFill>
                <a:latin typeface="Gotham"/>
                <a:sym typeface="Gotham"/>
              </a:rPr>
              <a:t>Concluído</a:t>
            </a:r>
          </a:p>
        </p:txBody>
      </p:sp>
      <p:grpSp>
        <p:nvGrpSpPr>
          <p:cNvPr id="35" name="Group 18">
            <a:extLst>
              <a:ext uri="{FF2B5EF4-FFF2-40B4-BE49-F238E27FC236}">
                <a16:creationId xmlns:a16="http://schemas.microsoft.com/office/drawing/2014/main" id="{B42C35E6-B883-3028-5839-32D4A6D055B4}"/>
              </a:ext>
            </a:extLst>
          </p:cNvPr>
          <p:cNvGrpSpPr/>
          <p:nvPr/>
        </p:nvGrpSpPr>
        <p:grpSpPr>
          <a:xfrm>
            <a:off x="2041967" y="4954478"/>
            <a:ext cx="6413950" cy="1366567"/>
            <a:chOff x="0" y="0"/>
            <a:chExt cx="6580890" cy="1822090"/>
          </a:xfrm>
        </p:grpSpPr>
        <p:sp>
          <p:nvSpPr>
            <p:cNvPr id="36" name="Freeform 19">
              <a:extLst>
                <a:ext uri="{FF2B5EF4-FFF2-40B4-BE49-F238E27FC236}">
                  <a16:creationId xmlns:a16="http://schemas.microsoft.com/office/drawing/2014/main" id="{B35F4740-6077-6899-CA81-4055BC579D64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7" name="TextBox 20">
            <a:extLst>
              <a:ext uri="{FF2B5EF4-FFF2-40B4-BE49-F238E27FC236}">
                <a16:creationId xmlns:a16="http://schemas.microsoft.com/office/drawing/2014/main" id="{8475E033-8A1E-0F42-0418-C82851403564}"/>
              </a:ext>
            </a:extLst>
          </p:cNvPr>
          <p:cNvSpPr txBox="1"/>
          <p:nvPr/>
        </p:nvSpPr>
        <p:spPr>
          <a:xfrm>
            <a:off x="3697448" y="5057724"/>
            <a:ext cx="6413949" cy="750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110/2022</a:t>
            </a:r>
          </a:p>
        </p:txBody>
      </p:sp>
      <p:sp>
        <p:nvSpPr>
          <p:cNvPr id="42" name="TextBox 5">
            <a:extLst>
              <a:ext uri="{FF2B5EF4-FFF2-40B4-BE49-F238E27FC236}">
                <a16:creationId xmlns:a16="http://schemas.microsoft.com/office/drawing/2014/main" id="{1BD17F0B-384C-42B8-5CCA-357F5DDF827B}"/>
              </a:ext>
            </a:extLst>
          </p:cNvPr>
          <p:cNvSpPr txBox="1"/>
          <p:nvPr/>
        </p:nvSpPr>
        <p:spPr>
          <a:xfrm>
            <a:off x="10003328" y="6365666"/>
            <a:ext cx="5688956" cy="243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OBJETO: </a:t>
            </a:r>
            <a:r>
              <a:rPr lang="pt-BR">
                <a:solidFill>
                  <a:srgbClr val="3C3C3C"/>
                </a:solidFill>
                <a:latin typeface="Gotham"/>
                <a:sym typeface="Gotham"/>
              </a:rPr>
              <a:t>Execução dos serviços de locação e montagem de tendas. Serviço de estruturação do centro de apoio aos romeiros no km 14 da rodovia estatual GO-237.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VALOR DO CONTRATO: </a:t>
            </a:r>
            <a:r>
              <a:rPr lang="pt-BR">
                <a:solidFill>
                  <a:srgbClr val="3C3C3C"/>
                </a:solidFill>
                <a:latin typeface="Gotham"/>
                <a:sym typeface="Gotham"/>
              </a:rPr>
              <a:t>R$ 5.350,00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SITUAÇÃO: </a:t>
            </a:r>
            <a:r>
              <a:rPr lang="pt-BR">
                <a:solidFill>
                  <a:srgbClr val="3C3C3C"/>
                </a:solidFill>
                <a:latin typeface="Gotham"/>
                <a:sym typeface="Gotham"/>
              </a:rPr>
              <a:t>Concluído</a:t>
            </a:r>
          </a:p>
        </p:txBody>
      </p:sp>
      <p:grpSp>
        <p:nvGrpSpPr>
          <p:cNvPr id="43" name="Group 18">
            <a:extLst>
              <a:ext uri="{FF2B5EF4-FFF2-40B4-BE49-F238E27FC236}">
                <a16:creationId xmlns:a16="http://schemas.microsoft.com/office/drawing/2014/main" id="{0AEFDD85-3E82-CC81-6F2D-2F8C5EB9C287}"/>
              </a:ext>
            </a:extLst>
          </p:cNvPr>
          <p:cNvGrpSpPr/>
          <p:nvPr/>
        </p:nvGrpSpPr>
        <p:grpSpPr>
          <a:xfrm>
            <a:off x="9832083" y="4959179"/>
            <a:ext cx="6413950" cy="1366567"/>
            <a:chOff x="0" y="0"/>
            <a:chExt cx="6580890" cy="1822090"/>
          </a:xfrm>
        </p:grpSpPr>
        <p:sp>
          <p:nvSpPr>
            <p:cNvPr id="44" name="Freeform 19">
              <a:extLst>
                <a:ext uri="{FF2B5EF4-FFF2-40B4-BE49-F238E27FC236}">
                  <a16:creationId xmlns:a16="http://schemas.microsoft.com/office/drawing/2014/main" id="{019C9152-767C-50D0-F6AD-31D9F102C0AE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FC04065C-AF92-995B-3827-6E9075CA53A7}"/>
              </a:ext>
            </a:extLst>
          </p:cNvPr>
          <p:cNvSpPr txBox="1"/>
          <p:nvPr/>
        </p:nvSpPr>
        <p:spPr>
          <a:xfrm>
            <a:off x="11487567" y="4998330"/>
            <a:ext cx="9780104" cy="82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111/2022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8840B6E-59FD-163E-866A-7747BC4771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CE1F70B4-0B01-C1E8-DF03-BEC4F0A129F3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90E98EC-55F5-16C8-5F35-D88C9FB1C48D}"/>
              </a:ext>
            </a:extLst>
          </p:cNvPr>
          <p:cNvSpPr txBox="1"/>
          <p:nvPr/>
        </p:nvSpPr>
        <p:spPr>
          <a:xfrm>
            <a:off x="-189350" y="8141378"/>
            <a:ext cx="23918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DIVERSOS</a:t>
            </a:r>
          </a:p>
          <a:p>
            <a:pPr algn="ctr"/>
            <a:r>
              <a:rPr lang="en-US" sz="11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"/>
                <a:ea typeface="Gotham"/>
                <a:cs typeface="Gotham"/>
                <a:sym typeface="Gotham"/>
              </a:rPr>
              <a:t>ROMEIROS MUQUÉM</a:t>
            </a:r>
            <a:endParaRPr lang="it-IT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4CC7157-0EEE-F1EE-B3EC-2BFC629F73B3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grpSp>
        <p:nvGrpSpPr>
          <p:cNvPr id="6" name="Group 15">
            <a:extLst>
              <a:ext uri="{FF2B5EF4-FFF2-40B4-BE49-F238E27FC236}">
                <a16:creationId xmlns:a16="http://schemas.microsoft.com/office/drawing/2014/main" id="{7D836BC3-84C9-84D8-9B71-1EC4EC13BBA7}"/>
              </a:ext>
            </a:extLst>
          </p:cNvPr>
          <p:cNvGrpSpPr/>
          <p:nvPr/>
        </p:nvGrpSpPr>
        <p:grpSpPr>
          <a:xfrm>
            <a:off x="2504057" y="123923"/>
            <a:ext cx="10788862" cy="775235"/>
            <a:chOff x="0" y="0"/>
            <a:chExt cx="4908550" cy="1209676"/>
          </a:xfrm>
        </p:grpSpPr>
        <p:sp>
          <p:nvSpPr>
            <p:cNvPr id="7" name="Freeform 16">
              <a:extLst>
                <a:ext uri="{FF2B5EF4-FFF2-40B4-BE49-F238E27FC236}">
                  <a16:creationId xmlns:a16="http://schemas.microsoft.com/office/drawing/2014/main" id="{526C168A-A6B5-4CDF-301E-984B45A4999E}"/>
                </a:ext>
              </a:extLst>
            </p:cNvPr>
            <p:cNvSpPr/>
            <p:nvPr/>
          </p:nvSpPr>
          <p:spPr>
            <a:xfrm>
              <a:off x="0" y="0"/>
              <a:ext cx="4908550" cy="1209675"/>
            </a:xfrm>
            <a:custGeom>
              <a:avLst/>
              <a:gdLst/>
              <a:ahLst/>
              <a:cxnLst/>
              <a:rect l="l" t="t" r="r" b="b"/>
              <a:pathLst>
                <a:path w="4908550" h="1209675">
                  <a:moveTo>
                    <a:pt x="4305681" y="1209675"/>
                  </a:moveTo>
                  <a:cubicBezTo>
                    <a:pt x="0" y="1209675"/>
                    <a:pt x="0" y="1209675"/>
                    <a:pt x="0" y="12096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305681" y="0"/>
                    <a:pt x="4305681" y="0"/>
                    <a:pt x="4305681" y="0"/>
                  </a:cubicBezTo>
                  <a:cubicBezTo>
                    <a:pt x="4638802" y="0"/>
                    <a:pt x="4908550" y="269875"/>
                    <a:pt x="4908550" y="603250"/>
                  </a:cubicBezTo>
                  <a:cubicBezTo>
                    <a:pt x="4908550" y="1209675"/>
                    <a:pt x="4908550" y="1209675"/>
                    <a:pt x="4908550" y="1209675"/>
                  </a:cubicBezTo>
                  <a:lnTo>
                    <a:pt x="4305681" y="1209675"/>
                  </a:lnTo>
                  <a:close/>
                </a:path>
              </a:pathLst>
            </a:custGeom>
            <a:solidFill>
              <a:srgbClr val="0E9E3C"/>
            </a:solidFill>
          </p:spPr>
        </p:sp>
      </p:grpSp>
      <p:grpSp>
        <p:nvGrpSpPr>
          <p:cNvPr id="8" name="Group 17">
            <a:extLst>
              <a:ext uri="{FF2B5EF4-FFF2-40B4-BE49-F238E27FC236}">
                <a16:creationId xmlns:a16="http://schemas.microsoft.com/office/drawing/2014/main" id="{5BC32DAA-A1B3-ECF8-0F35-BDF8D6FF9D1C}"/>
              </a:ext>
            </a:extLst>
          </p:cNvPr>
          <p:cNvGrpSpPr/>
          <p:nvPr/>
        </p:nvGrpSpPr>
        <p:grpSpPr>
          <a:xfrm>
            <a:off x="1944083" y="17693"/>
            <a:ext cx="904875" cy="907257"/>
            <a:chOff x="0" y="0"/>
            <a:chExt cx="1206500" cy="1209676"/>
          </a:xfrm>
        </p:grpSpPr>
        <p:sp>
          <p:nvSpPr>
            <p:cNvPr id="9" name="Freeform 18">
              <a:extLst>
                <a:ext uri="{FF2B5EF4-FFF2-40B4-BE49-F238E27FC236}">
                  <a16:creationId xmlns:a16="http://schemas.microsoft.com/office/drawing/2014/main" id="{BBFA541E-70F3-F2D0-3565-3690BE0B8937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</p:sp>
      </p:grpSp>
      <p:sp>
        <p:nvSpPr>
          <p:cNvPr id="10" name="TextBox 19">
            <a:extLst>
              <a:ext uri="{FF2B5EF4-FFF2-40B4-BE49-F238E27FC236}">
                <a16:creationId xmlns:a16="http://schemas.microsoft.com/office/drawing/2014/main" id="{4FB8A75C-50DE-41E2-C67A-37E7FFFBCB65}"/>
              </a:ext>
            </a:extLst>
          </p:cNvPr>
          <p:cNvSpPr txBox="1"/>
          <p:nvPr/>
        </p:nvSpPr>
        <p:spPr>
          <a:xfrm>
            <a:off x="2975343" y="190448"/>
            <a:ext cx="9867200" cy="4772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2200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CONTRATOS CONCLUÍDOS – APOIO AOS ROMEIROS - MUQUÉM</a:t>
            </a:r>
          </a:p>
        </p:txBody>
      </p:sp>
    </p:spTree>
    <p:extLst>
      <p:ext uri="{BB962C8B-B14F-4D97-AF65-F5344CB8AC3E}">
        <p14:creationId xmlns:p14="http://schemas.microsoft.com/office/powerpoint/2010/main" val="2030763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93E65-D33A-F4F0-3554-65DAC5E8F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2B71315D-7224-70F7-E011-A475A18A6055}"/>
              </a:ext>
            </a:extLst>
          </p:cNvPr>
          <p:cNvSpPr txBox="1"/>
          <p:nvPr/>
        </p:nvSpPr>
        <p:spPr>
          <a:xfrm>
            <a:off x="2238764" y="1621520"/>
            <a:ext cx="6905236" cy="20242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OBJETO</a:t>
            </a:r>
            <a:r>
              <a:rPr lang="pt-BR">
                <a:solidFill>
                  <a:srgbClr val="3C3C3C"/>
                </a:solidFill>
                <a:latin typeface="Gotham"/>
                <a:sym typeface="Gotham"/>
              </a:rPr>
              <a:t>: Execução dos serviços para estruturação do centro de apoio aos romeiros na GO-237, km 14 trecho Niquelândia - Muquém.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VALOR DO CONTRATO</a:t>
            </a:r>
            <a:r>
              <a:rPr lang="pt-BR">
                <a:solidFill>
                  <a:srgbClr val="3C3C3C"/>
                </a:solidFill>
                <a:latin typeface="Gotham"/>
                <a:sym typeface="Gotham"/>
              </a:rPr>
              <a:t>: R$ 19.900,00</a:t>
            </a:r>
            <a:endParaRPr lang="pt-BR">
              <a:solidFill>
                <a:srgbClr val="3C3C3C"/>
              </a:solidFill>
              <a:latin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3C3C3C"/>
                </a:solidFill>
                <a:latin typeface="Gotham"/>
                <a:sym typeface="Gotham"/>
              </a:rPr>
              <a:t>SITUAÇÃO</a:t>
            </a:r>
            <a:r>
              <a:rPr lang="pt-BR">
                <a:solidFill>
                  <a:srgbClr val="3C3C3C"/>
                </a:solidFill>
                <a:latin typeface="Gotham"/>
                <a:sym typeface="Gotham"/>
              </a:rPr>
              <a:t>: Concluído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4A354D21-1A6C-B042-73C4-9F91732D738C}"/>
              </a:ext>
            </a:extLst>
          </p:cNvPr>
          <p:cNvGrpSpPr/>
          <p:nvPr/>
        </p:nvGrpSpPr>
        <p:grpSpPr>
          <a:xfrm>
            <a:off x="2028231" y="169681"/>
            <a:ext cx="6413950" cy="1366567"/>
            <a:chOff x="0" y="0"/>
            <a:chExt cx="6580890" cy="182209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A304E412-7C62-3272-66A3-58315BED9CF3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B9257089-A1D3-5B92-3E07-437A7933703E}"/>
              </a:ext>
            </a:extLst>
          </p:cNvPr>
          <p:cNvSpPr txBox="1"/>
          <p:nvPr/>
        </p:nvSpPr>
        <p:spPr>
          <a:xfrm>
            <a:off x="2847280" y="169681"/>
            <a:ext cx="6413949" cy="7619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112/2022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96D7470D-8190-B75C-6395-A9EE288A4BB5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5664A4D-A8A0-A3B7-1684-D798D15DC8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05D744B-C519-795D-344E-A08A15468E58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217C0ED-1A79-ABED-F1B7-2E2A96FC6B55}"/>
              </a:ext>
            </a:extLst>
          </p:cNvPr>
          <p:cNvSpPr txBox="1"/>
          <p:nvPr/>
        </p:nvSpPr>
        <p:spPr>
          <a:xfrm>
            <a:off x="-189350" y="8141378"/>
            <a:ext cx="23918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DIVERSOS</a:t>
            </a:r>
          </a:p>
          <a:p>
            <a:pPr algn="ctr"/>
            <a:r>
              <a:rPr lang="en-US" sz="11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"/>
                <a:ea typeface="Gotham"/>
                <a:cs typeface="Gotham"/>
                <a:sym typeface="Gotham"/>
              </a:rPr>
              <a:t>ROMEIROS MUQUÉM</a:t>
            </a:r>
            <a:endParaRPr lang="it-IT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00192B1-5ED6-1309-03F3-D3A3B3B892E0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11DC6A8-8616-21AE-6FE5-16C5B25AAE66}"/>
              </a:ext>
            </a:extLst>
          </p:cNvPr>
          <p:cNvSpPr txBox="1"/>
          <p:nvPr/>
        </p:nvSpPr>
        <p:spPr>
          <a:xfrm>
            <a:off x="10382098" y="202930"/>
            <a:ext cx="9144000" cy="17563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108/2022</a:t>
            </a:r>
          </a:p>
          <a:p>
            <a:pPr>
              <a:lnSpc>
                <a:spcPts val="7200"/>
              </a:lnSpc>
            </a:pPr>
            <a:endParaRPr lang="en-US" sz="2000" b="1" dirty="0">
              <a:solidFill>
                <a:srgbClr val="FFFFFF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</p:spTree>
    <p:extLst>
      <p:ext uri="{BB962C8B-B14F-4D97-AF65-F5344CB8AC3E}">
        <p14:creationId xmlns:p14="http://schemas.microsoft.com/office/powerpoint/2010/main" val="4183776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e8751e5-3848-4b34-b242-30c4c2c4c979">
      <Terms xmlns="http://schemas.microsoft.com/office/infopath/2007/PartnerControls"/>
    </lcf76f155ced4ddcb4097134ff3c332f>
    <Observa_x00e7__x00e3_o xmlns="4e8751e5-3848-4b34-b242-30c4c2c4c97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FD77DFEAF9D094E9A75E4137E454D23" ma:contentTypeVersion="18" ma:contentTypeDescription="Crie um novo documento." ma:contentTypeScope="" ma:versionID="40a8e43dca7963e48a2fdfb70321ef92">
  <xsd:schema xmlns:xsd="http://www.w3.org/2001/XMLSchema" xmlns:xs="http://www.w3.org/2001/XMLSchema" xmlns:p="http://schemas.microsoft.com/office/2006/metadata/properties" xmlns:ns2="4e8751e5-3848-4b34-b242-30c4c2c4c979" xmlns:ns3="601e7d48-2183-4f89-9c5e-88ac28e28b7b" targetNamespace="http://schemas.microsoft.com/office/2006/metadata/properties" ma:root="true" ma:fieldsID="6d1c990e1239846d83663518dc2c1d47" ns2:_="" ns3:_="">
    <xsd:import namespace="4e8751e5-3848-4b34-b242-30c4c2c4c979"/>
    <xsd:import namespace="601e7d48-2183-4f89-9c5e-88ac28e28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Observa_x00e7__x00e3_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8751e5-3848-4b34-b242-30c4c2c4c9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Marcações de imagem" ma:readOnly="false" ma:fieldId="{5cf76f15-5ced-4ddc-b409-7134ff3c332f}" ma:taxonomyMulti="true" ma:sspId="f7517e60-a805-48cd-bbb9-1677eda333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Observa_x00e7__x00e3_o" ma:index="22" nillable="true" ma:displayName="Observação " ma:internalName="Observa_x00e7__x00e3_o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1e7d48-2183-4f89-9c5e-88ac28e28b7b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619BDC2-EB4D-4233-A3E2-6B24AF9BD0D0}">
  <ds:schemaRefs>
    <ds:schemaRef ds:uri="4e8751e5-3848-4b34-b242-30c4c2c4c979"/>
    <ds:schemaRef ds:uri="601e7d48-2183-4f89-9c5e-88ac28e28b7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A9E4198-EA76-41D1-BA93-5C0E022BEA68}">
  <ds:schemaRefs>
    <ds:schemaRef ds:uri="4e8751e5-3848-4b34-b242-30c4c2c4c979"/>
    <ds:schemaRef ds:uri="601e7d48-2183-4f89-9c5e-88ac28e28b7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1A2A412-8849-494A-AD62-849C3350744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613</Words>
  <Application>Microsoft Office PowerPoint</Application>
  <PresentationFormat>Personalizar</PresentationFormat>
  <Paragraphs>100</Paragraphs>
  <Slides>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Calibri</vt:lpstr>
      <vt:lpstr>Gotham Light</vt:lpstr>
      <vt:lpstr>Gotham</vt:lpstr>
      <vt:lpstr>Arial</vt:lpstr>
      <vt:lpstr>Gotham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Cópia de Apresentação - Governo Goiás</dc:title>
  <dc:creator>Maykell Mendes Guimaraes</dc:creator>
  <cp:lastModifiedBy>Lucas Nogueira Lopes</cp:lastModifiedBy>
  <cp:revision>2</cp:revision>
  <dcterms:created xsi:type="dcterms:W3CDTF">2006-08-16T00:00:00Z</dcterms:created>
  <dcterms:modified xsi:type="dcterms:W3CDTF">2026-07-21T19:16:56Z</dcterms:modified>
  <dc:identifier>DAGdyuBx1aE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0x010100AFD77DFEAF9D094E9A75E4137E454D23</vt:lpwstr>
  </property>
  <property fmtid="{D5CDD505-2E9C-101B-9397-08002B2CF9AE}" pid="3" name="MediaServiceImageTags">
    <vt:lpwstr/>
  </property>
  <property fmtid="{D5CDD505-2E9C-101B-9397-08002B2CF9AE}" pid="4" name="JullianaGentil">
    <vt:lpwstr/>
  </property>
</Properties>
</file>